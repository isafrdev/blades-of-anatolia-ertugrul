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127" y="411480"/>
            <a:ext cx="4663440" cy="44147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4892040"/>
            <a:ext cx="103601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7C8B8F"/>
                </a:solidFill>
                <a:latin typeface="Calibri"/>
              </a:rPr>
              <a:t>XIII asr Anadolusi  ·  Uchinchi shaxs  ·  Yashirinlik va jang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5468112"/>
            <a:ext cx="2313432" cy="18288"/>
          </a:xfrm>
          <a:prstGeom prst="rect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5687568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C09660"/>
                </a:solidFill>
                <a:latin typeface="Calibri"/>
              </a:rPr>
              <a:t>48 epizod  ·  4 mavsum  ·  3 til  ·  o'z dvigateli, sof C++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Bir qarashda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Loyiha nima va nimasi bilan ajralib turadi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700" b="1" i="0">
                <a:solidFill>
                  <a:srgbClr val="C09660"/>
                </a:solidFill>
                <a:latin typeface="Calibri"/>
              </a:rPr>
              <a:t>Dirilish: Ertug'rul</a:t>
            </a:r>
            <a:r>
              <a:rPr sz="1500" b="0" i="0">
                <a:solidFill>
                  <a:srgbClr val="E4EAEA"/>
                </a:solidFill>
                <a:latin typeface="Calibri"/>
              </a:rPr>
              <a:t> — 1227-1261 yillar Anadolusida kechadigan uchinchi shaxs sarguzashti. Qayi obasining ko'chishi, Templar tartibi bilan to'qnashuv va Ertug'rulning shakllanishi 48 epizodda hikoya qilinadi.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6492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O'yin Assassin's Creed ning harakat erkinligini Sekiro ning jazolovchi jangi bilan birlashtiradi: yengil zarba yetarli emas, muvozanatni buzish kerak. Uchta dushman o'ldirishi mumkin, beshtasi — albatta.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14800"/>
            <a:ext cx="157276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C09660"/>
                </a:solidFill>
                <a:latin typeface="Cambria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901184"/>
            <a:ext cx="15727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epizod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2888" y="4114800"/>
            <a:ext cx="157276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48A9B5"/>
                </a:solidFill>
                <a:latin typeface="Cambria"/>
              </a:rPr>
              <a:t>19.5k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4901184"/>
            <a:ext cx="15727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qator C++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7096" y="4114800"/>
            <a:ext cx="157276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C09660"/>
                </a:solidFill>
                <a:latin typeface="Cambria"/>
              </a:rPr>
              <a:t>921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4901184"/>
            <a:ext cx="15727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ovoz fayli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1304" y="4114800"/>
            <a:ext cx="157276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48A9B5"/>
                </a:solidFill>
                <a:latin typeface="Cambria"/>
              </a:rPr>
              <a:t>928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1304" y="4901184"/>
            <a:ext cx="15727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tarjima kaliti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6972" y="1604772"/>
            <a:ext cx="3602736" cy="217343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valley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645920"/>
            <a:ext cx="3520440" cy="1980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18120" y="381304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A353A"/>
                </a:solidFill>
                <a:latin typeface="Calibri"/>
              </a:rPr>
              <a:t>Qayi obasi, vodiy — o'yin ichidan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BLADES OF ANATOLIA: ERTUGRUL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Dunyo va davr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Tarixiy langar: 1227-1261, Anadolu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029200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9848" y="1837943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52728" y="1764792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Qayi obasi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167128"/>
            <a:ext cx="4626864" cy="566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To'rt yuz chodir, bir podadan boshqa boyligi yo'q ko'chmanchi oba. Ocharchilik va mo'g'ul bosimi ularni g'arbga siqib chiqaradi.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044952"/>
            <a:ext cx="5029200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69848" y="32826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52728" y="3209544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Uch kuch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611880"/>
            <a:ext cx="4626864" cy="566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Salchuqiylar zaiflashmoqda, mo'g'ullar sharqdan bosmoqda, Templar tartibi esa savdo yo'llarini nazorat qilishga urinadi.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489704"/>
            <a:ext cx="5029200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69848" y="472744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52728" y="4654296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Ertug'rul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5056632"/>
            <a:ext cx="4626864" cy="566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Boshida — o'g'il. Oxirida — bey. O'yin uni qahramon deb ko'rsatmaydi: har qarori narx bilan keladi.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2492" y="1559052"/>
            <a:ext cx="5111496" cy="3069640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09_cut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029200" cy="298608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263640" y="4764024"/>
            <a:ext cx="5029200" cy="129844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3952" y="4928616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Tarixiy aniqlik.</a:t>
            </a:r>
            <a:r>
              <a:rPr sz="1200" b="0" i="0">
                <a:solidFill>
                  <a:srgbClr val="E4EAEA"/>
                </a:solidFill>
                <a:latin typeface="Calibri"/>
              </a:rPr>
              <a:t>  Har epizodda hijriy va melodiy sana bor; hodisalar hujjatlashtirilganlik darajasi bilan belgilangan (DOCUMENTED / INFERRED / FICTION). Kodeks 'buni qayerdan bilamiz' degan savolga javob beradi.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DUNYO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Hikoya arxitekturasi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4 mavsum x 12 epizod = 48 epizod, ~50 soat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24160" cy="93268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" y="178308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74650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1227-1229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0574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Och qarg'alar -&gt; Bagras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874519"/>
            <a:ext cx="5623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Ocharchilik, birinchi qon, oba ichidagi ishonchsizlik.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633472"/>
            <a:ext cx="10424160" cy="93268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1635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7797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1230-1238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09067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Yassichemen -&gt; Mix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907791"/>
            <a:ext cx="5623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Katta janglar. Qo'l jarohati (Mix) — qaytarib bo'lmas narx.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666744"/>
            <a:ext cx="10424160" cy="93268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15568" y="3849624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8130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1238-1243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23944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Qorda uch kun -&gt; Sanoq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941063"/>
            <a:ext cx="5623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Mo'g'ul bosqini. Omon qolish endi g'alabadan muhimroq.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700016"/>
            <a:ext cx="10424160" cy="93268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15568" y="48828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8463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1243-1261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157216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CD3C4"/>
                </a:solidFill>
                <a:latin typeface="Calibri"/>
              </a:rPr>
              <a:t>O'n ikki million -&gt; Tanga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974336"/>
            <a:ext cx="5623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Bey bo'lish. Qaror qilish — qilich urishdan og'irroq.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843016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Har epizod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~62 daqiqa: intro cutscene -&gt; brifing -&gt; jang to'lqinlari -&gt; cliffhanger. Keyingi epizod faqat oldingisi bajarilgach ochiladi.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HIKOYA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Epizod arxetiplari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To'qqiz xil epizod turi — jang halqasi shundan quriladi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88136" y="187451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71016" y="17830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SIEGE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057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Qamal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3134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Ko'p to'lqin, tor joy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600200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26864" y="1874519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09744" y="17830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DEFENSE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2057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Himoya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9744" y="23134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Nuqtani ushlash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6136" y="1600200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65592" y="187451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48471" y="17830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SURVIVAL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2057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Omon qolish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23134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Vaqt va resurs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734056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88136" y="3008376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71016" y="29169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INFILTRATION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319125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Kirib borish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1016" y="34472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Sezilmaslik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2734056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626864" y="300837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09744" y="29169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CHASE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19125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Quvish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4" y="34472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Nuqtaga yetish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46136" y="2734056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65592" y="3008376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48471" y="29169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ESCORT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319125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Kuzatib borish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34472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Boshqani himoya qilish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3867912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88136" y="414223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71016" y="40507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INVESTIGATION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Tergov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1016" y="4581144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Izlash va so'roq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3867912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626864" y="4142232"/>
            <a:ext cx="68580" cy="6858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09744" y="40507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COURT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744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Kurultoy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9744" y="4581144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Muzokara va tanlov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46136" y="3867912"/>
            <a:ext cx="3310128" cy="100584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165592" y="414223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48471" y="40507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8A9B5"/>
                </a:solidFill>
                <a:latin typeface="Calibri"/>
              </a:rPr>
              <a:t>RITUAL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1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Marosim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1" y="4581144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Sekin, ramziy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5184648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Nima uchun muhim.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episodes_v2.json da maqsadlar ro'yxati bo'sh edi. Endi maqsadlar ARXETIPDAN quriladi: DEFENSE -&gt; barcha dushmanlarni yo'q qilish + omon qolish; INFILTRATION -&gt; sezilmaslik (ixtiyoriy) + nuqtaga yetish + jang; CHASE -&gt; nuqta + N dushman. To'lqinlar soni qiyinlikdan, dushmanlar soni max_simultaneous dan olinadi.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HIKOYA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O'yin oqimi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Ishga tushirishdan epizod yakuniga qadar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17465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02082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Splash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2951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Studiya belgisi</a:t>
            </a:r>
          </a:p>
        </p:txBody>
      </p:sp>
      <p:sp>
        <p:nvSpPr>
          <p:cNvPr id="9" name="Isosceles Triangle 8"/>
          <p:cNvSpPr/>
          <p:nvPr/>
        </p:nvSpPr>
        <p:spPr>
          <a:xfrm>
            <a:off x="3374136" y="2029967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520439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21607" y="17465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7" y="202082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Til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2951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uz / tr / en</a:t>
            </a:r>
          </a:p>
        </p:txBody>
      </p:sp>
      <p:sp>
        <p:nvSpPr>
          <p:cNvPr id="14" name="Isosceles Triangle 13"/>
          <p:cNvSpPr/>
          <p:nvPr/>
        </p:nvSpPr>
        <p:spPr>
          <a:xfrm>
            <a:off x="6025896" y="2029967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72200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3368" y="17465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02082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Bosh menyu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2951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Davom etish, epizodlar, sozlamalar</a:t>
            </a:r>
          </a:p>
        </p:txBody>
      </p:sp>
      <p:sp>
        <p:nvSpPr>
          <p:cNvPr id="19" name="Isosceles Triangle 18"/>
          <p:cNvSpPr/>
          <p:nvPr/>
        </p:nvSpPr>
        <p:spPr>
          <a:xfrm>
            <a:off x="8677656" y="2029967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823959" y="1600200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25128" y="17465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202082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Epizod tanlash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2951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Ochilgani feruza, yopig'i so'nik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9848" y="3044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3319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Cutscene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3593591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Personajlar yuradi va gapiradi</a:t>
            </a:r>
          </a:p>
        </p:txBody>
      </p:sp>
      <p:sp>
        <p:nvSpPr>
          <p:cNvPr id="28" name="Isosceles Triangle 27"/>
          <p:cNvSpPr/>
          <p:nvPr/>
        </p:nvSpPr>
        <p:spPr>
          <a:xfrm>
            <a:off x="3374136" y="3328415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520439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21607" y="3044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21607" y="3319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Brifing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21607" y="3593591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Maqsadlar ko'rsatiladi</a:t>
            </a:r>
          </a:p>
        </p:txBody>
      </p:sp>
      <p:sp>
        <p:nvSpPr>
          <p:cNvPr id="33" name="Isosceles Triangle 32"/>
          <p:cNvSpPr/>
          <p:nvPr/>
        </p:nvSpPr>
        <p:spPr>
          <a:xfrm>
            <a:off x="6025896" y="3328415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3044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3319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Jang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3593591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To'lqinlar, nazorat nuqtalari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8677656" y="3328415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823959" y="2898648"/>
            <a:ext cx="2432304" cy="1152144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25128" y="3044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mbria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25128" y="3319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Natija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25128" y="3593591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Bajarildi yoki halok bo'ldingiz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7531" y="4347972"/>
            <a:ext cx="3392424" cy="204851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Picture 43" descr="03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3310128" cy="1965388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4384548" y="4347972"/>
            <a:ext cx="3392424" cy="204851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6" name="Picture 45" descr="04_epis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4389120"/>
            <a:ext cx="3310128" cy="1965388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7941564" y="4347972"/>
            <a:ext cx="3392424" cy="204851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Picture 47" descr="42_brief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2712" y="4389120"/>
            <a:ext cx="3310128" cy="196538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OQIM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Harakat: masofaga bog'langan qadam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Tizimning eng nozik qismi — va eng katta tuzatish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400" b="0" i="0">
                <a:solidFill>
                  <a:srgbClr val="E4EAEA"/>
                </a:solidFill>
                <a:latin typeface="Calibri"/>
              </a:rPr>
              <a:t>Odatdagi protsedural yurishda qadam fazasi VAQTdan olinadi. Natijada tezlik o'zgarganda oyoq yerdan sirg'aladi. Bizda faza bosib o'tilgan MASOFAdan integrallanadi, tayanch fazasida panja esa dunyoda qotadi — oyoq burchaklari analitik IK bilan hisoblanadi.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017520"/>
            <a:ext cx="5943600" cy="65836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3172968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09660"/>
                </a:solidFill>
                <a:latin typeface="Consolas"/>
              </a:rPr>
              <a:t>S(v) = 0.97 + 0.35 x v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8A9B5"/>
                </a:solidFill>
                <a:latin typeface="Consolas"/>
              </a:rPr>
              <a:t>faza += bosibOtilganMasofa / S(v)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31920"/>
            <a:ext cx="7040880" cy="329184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014215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Tezlik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4014215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Ilgari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014215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Endi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4014215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Real odam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4014215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7C8B8F"/>
                </a:solidFill>
                <a:latin typeface="Calibri"/>
              </a:rPr>
              <a:t>SLIP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9826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Yurish 1.35 m/s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3982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4.6 qadam/s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398264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1.87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398264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1.85-1.90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439826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823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Yugurish 3.30 m/s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78231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4.6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782312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3.11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4782312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3.0-3.2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8231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66359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Sprint 6.40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166359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8.8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5166359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3.99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5166359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3.9-4.2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166359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77840"/>
            <a:ext cx="7040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7C8B8F"/>
                </a:solidFill>
                <a:latin typeface="Calibri"/>
              </a:rPr>
              <a:t>Tezlik endi VEKTOR: yo'nalish bir kadrda o'zgarmaydi. Burilish tezligi fizikadan cheklanadi (a_lat &lt;= 12 m/s^2) — sprintda 110 grad/s, yurishda 509.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34172" y="1604772"/>
            <a:ext cx="3099815" cy="187470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Picture 30" descr="63_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3017520" cy="179165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8234172" y="3479292"/>
            <a:ext cx="3099815" cy="1874702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69_ar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520440"/>
            <a:ext cx="3017520" cy="17916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75320" y="53035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A353A"/>
                </a:solidFill>
                <a:latin typeface="Calibri"/>
              </a:rPr>
              <a:t>Sprint va burilish yoyi (tana egilgan)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MEXANIKA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Parkur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Assassin's Creed uslubidagi past va yuqori profil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824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1600200"/>
            <a:ext cx="58338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Past profil.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Yurish, cho'kkalash, olomonga singish. Shovqin deyarli yo'q.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4942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2167128"/>
            <a:ext cx="58338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Yuqori profil.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Shift — yugurish va erkin yurish. To'siqlar avtomatik o'tiladi.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81635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734056"/>
            <a:ext cx="58338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Zond fizikasi.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probeVault, probeLedge, probeWall, mantleClear, supportBelow, platformAbove — oldindagi geometriya nur bilan tekshiriladi.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8328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300984"/>
            <a:ext cx="58338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31 ta holat.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Vault, Mantle, Climb, Hang, Shimmy, Eject, Slide, RollLand, WallRun, Dodge, LeapOfFaith va boshqalar.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5020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9848" y="3867912"/>
            <a:ext cx="583387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 i="0">
                <a:solidFill>
                  <a:srgbClr val="C09660"/>
                </a:solidFill>
                <a:latin typeface="Calibri"/>
              </a:rPr>
              <a:t>Bilge Ko'z.  </a:t>
            </a:r>
            <a:r>
              <a:rPr sz="1350" b="0" i="0">
                <a:solidFill>
                  <a:srgbClr val="E4EAEA"/>
                </a:solidFill>
                <a:latin typeface="Calibri"/>
              </a:rPr>
              <a:t>H tugmasi — dunyo so'nadi, parkur geometriyasi yonadi.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6892" y="1604772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60_i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4114800" cy="244316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136892" y="4165091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75_crou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206240"/>
            <a:ext cx="4114800" cy="244316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MEXANIKA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Jang: uch resurs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GDD: jang og'ir va jazolovchi. Uch kishi o'ldirishi mumkin.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9848" y="1874519"/>
            <a:ext cx="2011680" cy="9144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20756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BC5A44"/>
                </a:solidFill>
                <a:latin typeface="Cambria"/>
              </a:rPr>
              <a:t>Sog'liq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6829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Zarba zarari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642615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0 -&gt; o'lim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39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21607" y="1874519"/>
            <a:ext cx="2011680" cy="91440"/>
          </a:xfrm>
          <a:prstGeom prst="rect">
            <a:avLst/>
          </a:prstGeom>
          <a:solidFill>
            <a:srgbClr val="DC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21607" y="20756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CD3C4"/>
                </a:solidFill>
                <a:latin typeface="Cambria"/>
              </a:rPr>
              <a:t>Nafas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36829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Har harakat sarflaydi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2642615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0 -&gt; hujum yo'q, blok buziladi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73368" y="1874519"/>
            <a:ext cx="2011680" cy="91440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3368" y="20756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Poza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36829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Zarba va blok to'playdi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642615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100 -&gt; muvozanat buziladi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59" y="1600200"/>
            <a:ext cx="2432304" cy="14173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25128" y="1874519"/>
            <a:ext cx="201168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25128" y="20756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Qo'l (Mix)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36829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Og'ir zarba va parry yeydi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2642615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7C8B8F"/>
                </a:solidFill>
                <a:latin typeface="Calibri"/>
              </a:rPr>
              <a:t>parry oynasi 180 -&gt; 110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4612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CD3C4"/>
                </a:solidFill>
                <a:latin typeface="Cambria"/>
              </a:rPr>
              <a:t>Harakatlar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71246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" y="3630168"/>
            <a:ext cx="5833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Yengil zarba.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Uch zarbali kombo.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15137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9848" y="4069080"/>
            <a:ext cx="5833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Og'ir zarba.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Shift + Mouse 1 — o'z pozangizni ham buzadi.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59028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9848" y="4507992"/>
            <a:ext cx="5833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Parry.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Mouse 2 bosish, 180 ms oyna. Raqib pozasiga +35 — jangning yuragi.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502920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69848" y="4946904"/>
            <a:ext cx="5833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Tepish.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R — qalqonni ochadi. Blok qilib bo'lmaydi.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46811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69848" y="5385816"/>
            <a:ext cx="5833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Yakunlovchi zarba.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Muvozanati buzilgan raqibga — qat'iy o'lim.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6892" y="3250692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Picture 36" descr="46_figh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3291840"/>
            <a:ext cx="4114800" cy="24431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Dushmanlar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Olti tur — har biri boshqacha yechim talab qiladi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88136" y="1856232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71016" y="17647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Footman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05740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Oddiy piyoda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33172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Asosiy kuch. Yengil zarba bilan yechiladi.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600200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26864" y="1856232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09744" y="17647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Sergeant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205740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Qalqonli serjant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Bloki kuchli — tepish kerak. O'q oldindan o'tmaydi.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6136" y="1600200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65592" y="1856232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48471" y="17647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Crossbow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205740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Arbaletchi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233172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Uzoqdan otadi, yaqinda zaif. Birinchi yo'q qiling.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898648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88136" y="3154680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71016" y="30632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Assassin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3355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Saroy qotili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30168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Tez, kam sog'liq. Parry qilish qiyin.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2898648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626864" y="3154680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09744" y="30632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HorseArcher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355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Mo'g'ul otliq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3630168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S3+ da paydo bo'ladi. To'xtatib bo'lmaydi.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46136" y="2898648"/>
            <a:ext cx="3310128" cy="117043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65592" y="3154680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48471" y="30632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Elite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3355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48A9B5"/>
                </a:solidFill>
                <a:latin typeface="Calibri"/>
              </a:rPr>
              <a:t>Keshikten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5592" y="3630168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S4 elita gvardiyasi. Yakunlovchi zarba shart.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4343400"/>
            <a:ext cx="10424160" cy="1207008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43000" y="4544568"/>
            <a:ext cx="4663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Sezish — ikki kanal.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Ko'rish konusi (cho'kkalasangiz 55%, past profilda 85% masofa) va eshitish (parkur shovqinlaridan). Ogohlik bosh ustida to'lib boruvchi kvadrat bilan ko'rsatiladi.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454456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Bir vaqtda faqat ikkitasi hujum qiladi.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Qolganlari aylanib kutadi — AC dagi kabi. Aks holda besh kishilik to'lqin bir zumda o'ldirardi.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Kamon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XIII asr turk kompozit yoyi — ballistik o'q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824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1600200"/>
            <a:ext cx="574243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Nishonga olish.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G ni ushlang: kamera o'ng yelka ustiga siljiydi, ko'rish maydoni 48 dan 36 gradusga torayadi.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8600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2203704"/>
            <a:ext cx="574243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Tortish 0.85 s.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Nafas sarflanadi (to'la tortib ushlaganda 11/s). Nafas kamaygach qo'l titraydi va nishon halqasi kengayadi.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8895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807208"/>
            <a:ext cx="574243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Majburiy reliz.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Nafas tugasa o'q o'zi uchadi — 60-70 kg yoyni uzoq ushlab bo'lmaydi.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49300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410712"/>
            <a:ext cx="574243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Ballistika.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O'q gravitatsiya bilan uchadi, 0.40 m qadamlar bilan integrallanadi; har qadamda yer, devor va dushman tekshiriladi.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CD3C4"/>
                </a:solidFill>
                <a:latin typeface="Cambria"/>
              </a:rPr>
              <a:t>Tana zonalari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599431"/>
            <a:ext cx="1792224" cy="8412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727448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7C8B8F"/>
                </a:solidFill>
                <a:latin typeface="Cambria"/>
              </a:rPr>
              <a:t>x0.55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93208"/>
            <a:ext cx="17922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Oyoq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4599431"/>
            <a:ext cx="1792224" cy="8412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80360" y="4727448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DCD3C4"/>
                </a:solidFill>
                <a:latin typeface="Cambria"/>
              </a:rPr>
              <a:t>x1.00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5093208"/>
            <a:ext cx="17922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Ko'krak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4599431"/>
            <a:ext cx="1792224" cy="8412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4727448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BC5A44"/>
                </a:solidFill>
                <a:latin typeface="Cambria"/>
              </a:rPr>
              <a:t>x2.60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5093208"/>
            <a:ext cx="17922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Bosh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550408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Dubulg'asiz dushmanni boshdan bir o'q o'ldiradi — va u qichqirmaydi, ya'ni qo'shnilari bilmaydi. Devorga tekkan o'q qorovulni o'sha yoqqa yuboradi.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6892" y="1604772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55_bow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4114800" cy="2443162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136892" y="4165091"/>
            <a:ext cx="4197096" cy="252648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7" name="Picture 26" descr="56_bow_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206240"/>
            <a:ext cx="4114800" cy="244316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Iymon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Jangdagi joriy formangiz — yig'iladigan ochko 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48132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1783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0-25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07568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BC5A44"/>
                </a:solidFill>
                <a:latin typeface="Cambria"/>
              </a:rPr>
              <a:t>Adashgan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459736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nafas x0.75, poza x0.80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1600200"/>
            <a:ext cx="2432304" cy="148132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21607" y="1783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26-50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7" y="207568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7C8B8F"/>
                </a:solidFill>
                <a:latin typeface="Cambria"/>
              </a:rPr>
              <a:t>Shubha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7" y="2459736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neytral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2432304" cy="148132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1783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51-75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07568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9660"/>
                </a:solidFill>
                <a:latin typeface="Cambria"/>
              </a:rPr>
              <a:t>Sobit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459736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nafas x1.50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59" y="1600200"/>
            <a:ext cx="2432304" cy="1481328"/>
          </a:xfrm>
          <a:prstGeom prst="rect">
            <a:avLst/>
          </a:prstGeom>
          <a:solidFill>
            <a:srgbClr val="161D21"/>
          </a:solidFill>
          <a:ln w="15875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25128" y="1783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76-100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07568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8A9B5"/>
                </a:solidFill>
                <a:latin typeface="Cambria"/>
              </a:rPr>
              <a:t>Sukunat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459736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nafas/poza x1.50 + vaqt sekinlashuvi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35584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9660"/>
                </a:solidFill>
                <a:latin typeface="Cambria"/>
              </a:rPr>
              <a:t>Ko'tarish — mahoratdan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38039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" y="3721608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Mukammal parry  +0.4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13308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9848" y="4050792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Yakunlovchi zarba  +2.0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46227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" y="437997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Zarba yemasdan tugatilgan to'lqin  +5.0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79145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9848" y="4709160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Epizod bajarildi  +6.0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35584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BC5A44"/>
                </a:solidFill>
                <a:latin typeface="Cambria"/>
              </a:rPr>
              <a:t>Tushish — beparvolikdan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8039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4807" y="3721608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Har zarba yeyish  -0.6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13308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4807" y="4050792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E4EAEA"/>
                </a:solidFill>
                <a:latin typeface="Calibri"/>
              </a:rPr>
              <a:t>Halok bo'lish  -8.0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5166360"/>
            <a:ext cx="10424160" cy="896112"/>
          </a:xfrm>
          <a:prstGeom prst="rect">
            <a:avLst/>
          </a:prstGeom>
          <a:solidFill>
            <a:srgbClr val="1B2428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43000" y="5349240"/>
            <a:ext cx="9875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400" b="1" i="0">
                <a:solidFill>
                  <a:srgbClr val="48A9B5"/>
                </a:solidFill>
                <a:latin typeface="Calibri"/>
              </a:rPr>
              <a:t>Sukunat.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Iymon 76 dan yuqori bo'lsa, mukammal parry yoki yakunlovchi zarba 1.2 soniya davomida vaqtni 0.45x ga sekinlashtiradi. 9 soniya sovish vaqti bor — uni yig'ib qo'yib bo'lmaydi. Iymon progress.json da saqlanadi.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Zarba qaytarmasi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Nima uchun jang 'bo'sh' his qilinardi — uchta uzilgan sim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24160" cy="1298448"/>
          </a:xfrm>
          <a:prstGeom prst="rect">
            <a:avLst/>
          </a:prstGeom>
          <a:solidFill>
            <a:srgbClr val="161D21"/>
          </a:solidFill>
          <a:ln w="12700">
            <a:solidFill>
              <a:srgbClr val="BC5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9875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400" b="1" i="0">
                <a:solidFill>
                  <a:srgbClr val="BC5A44"/>
                </a:solidFill>
                <a:latin typeface="Calibri"/>
              </a:rPr>
              <a:t>Topilgan asosiy nuqson.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setClip() bir martalik klipni HAR KADR qayta boshlardi. Character va Enemy klipni har kadr so'raydi, setClip esa mahalliy vaqtni nolga qaytarardi — natijada zarba, zarba yeyish, parkur va yakunlovchi zarba animatsiyalari birinchi kadrida MUZLAB turardi. Poza lt = dt da qotgani uchun natija kadr chastotasiga ham bog'liq edi: 60 Gts da bosh 21 gradus, 30 Gts da 33 gradus orqaga tashlangan holda 0.35 s qotardi.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172968"/>
            <a:ext cx="10424160" cy="347472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326440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Kanal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326440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Tegdi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26440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Bloklandi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26440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O'ldirdi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26440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O'zi yedi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26440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7C8B8F"/>
                </a:solidFill>
                <a:latin typeface="Calibri"/>
              </a:rPr>
              <a:t>Parry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75303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Muzlash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575303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55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575303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35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575303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100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3575303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70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575303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130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941063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Kamera turtkisi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941063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941063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3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941063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3941063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0.40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06824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Uchqun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306824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feruza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30682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zarhal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30682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ikki qavat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30682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feruza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430682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zarhal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672584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Tovush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4672584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past chuq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67258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metall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467258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og'ir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467258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09660"/>
                </a:solidFill>
                <a:latin typeface="Calibri"/>
              </a:rPr>
              <a:t>kuchli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467258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yorqin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148072"/>
            <a:ext cx="10424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Ikki nozik joy.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Muzlash HAQIQIY dt bilan so'nadi — aks holda o'zi sekinlashtirgan vaqt bilan kamayib cheksiz cho'zilardi. Kamera silkinishi camSmooth ga yozilmaydi — yozilsa turtkilar qo'shilib kamerani joyidan surib yuborardi.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Epizod halqasi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Muvaffaqiyatsizlik va qayta tug'ilishning to'liq mantig'i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73936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Cutscene</a:t>
            </a:r>
          </a:p>
        </p:txBody>
      </p:sp>
      <p:sp>
        <p:nvSpPr>
          <p:cNvPr id="7" name="Isosceles Triangle 6"/>
          <p:cNvSpPr/>
          <p:nvPr/>
        </p:nvSpPr>
        <p:spPr>
          <a:xfrm>
            <a:off x="2916936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81528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81528" y="1773936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Brifing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5129784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94376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94376" y="1773936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Jang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7342632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507223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07223" y="1773936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To'lqin tozalandi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9555480" y="1801368"/>
            <a:ext cx="109728" cy="164592"/>
          </a:xfrm>
          <a:prstGeom prst="triangle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720072" y="1600200"/>
            <a:ext cx="1993392" cy="566928"/>
          </a:xfrm>
          <a:prstGeom prst="rect">
            <a:avLst/>
          </a:prstGeom>
          <a:solidFill>
            <a:srgbClr val="161D21"/>
          </a:solidFill>
          <a:ln w="1143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20072" y="1773936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Nazorat nuqtasi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2377440"/>
            <a:ext cx="5029200" cy="1572768"/>
          </a:xfrm>
          <a:prstGeom prst="rect">
            <a:avLst/>
          </a:prstGeom>
          <a:solidFill>
            <a:srgbClr val="161D21"/>
          </a:solidFill>
          <a:ln w="12700">
            <a:solidFill>
              <a:srgbClr val="BC5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253288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C5A44"/>
                </a:solidFill>
                <a:latin typeface="Cambria"/>
              </a:rPr>
              <a:t>Halok bo'ldingiz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298094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2898648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Nazorat nuqtasidan qayta urinish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329183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98448" y="3209544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Epizodni boshidan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3602735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98448" y="3520439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Bosh menyuga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0699" y="4050791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 dirty="0" err="1">
                <a:solidFill>
                  <a:srgbClr val="7C8B8F"/>
                </a:solidFill>
                <a:latin typeface="Calibri"/>
              </a:rPr>
              <a:t>Joriy</a:t>
            </a:r>
            <a:r>
              <a:rPr sz="1050" b="0" i="0" dirty="0">
                <a:solidFill>
                  <a:srgbClr val="7C8B8F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7C8B8F"/>
                </a:solidFill>
                <a:latin typeface="Calibri"/>
              </a:rPr>
              <a:t>to'lqin</a:t>
            </a:r>
            <a:r>
              <a:rPr sz="1050" b="0" i="0" dirty="0">
                <a:solidFill>
                  <a:srgbClr val="7C8B8F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7C8B8F"/>
                </a:solidFill>
                <a:latin typeface="Calibri"/>
              </a:rPr>
              <a:t>dushmanlari</a:t>
            </a:r>
            <a:r>
              <a:rPr sz="1050" b="0" i="0" dirty="0">
                <a:solidFill>
                  <a:srgbClr val="7C8B8F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7C8B8F"/>
                </a:solidFill>
                <a:latin typeface="Calibri"/>
              </a:rPr>
              <a:t>yangidan</a:t>
            </a:r>
            <a:r>
              <a:rPr sz="1050" b="0" i="0" dirty="0">
                <a:solidFill>
                  <a:srgbClr val="7C8B8F"/>
                </a:solidFill>
                <a:latin typeface="Calibri"/>
              </a:rPr>
              <a:t>, </a:t>
            </a:r>
            <a:r>
              <a:rPr sz="1050" b="0" i="0" dirty="0" err="1">
                <a:solidFill>
                  <a:srgbClr val="7C8B8F"/>
                </a:solidFill>
                <a:latin typeface="Calibri"/>
              </a:rPr>
              <a:t>bajarilganlari</a:t>
            </a:r>
            <a:r>
              <a:rPr sz="1050" b="0" i="0" dirty="0">
                <a:solidFill>
                  <a:srgbClr val="7C8B8F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7C8B8F"/>
                </a:solidFill>
                <a:latin typeface="Calibri"/>
              </a:rPr>
              <a:t>qaytmaydi</a:t>
            </a:r>
            <a:r>
              <a:rPr sz="1050" b="0" i="0" dirty="0">
                <a:solidFill>
                  <a:srgbClr val="7C8B8F"/>
                </a:solidFill>
                <a:latin typeface="Calibri"/>
              </a:rPr>
              <a:t>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377440"/>
            <a:ext cx="5029200" cy="1572768"/>
          </a:xfrm>
          <a:prstGeom prst="rect">
            <a:avLst/>
          </a:prstGeom>
          <a:solidFill>
            <a:srgbClr val="161D21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253288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48A9B5"/>
                </a:solidFill>
                <a:latin typeface="Cambria"/>
              </a:rPr>
              <a:t>Epizod bajarildi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8094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93407" y="2898648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Cliffhanger cutscene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3291839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93407" y="3209544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Keyingi epizod ochiladi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602735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93407" y="3520439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saves/progress.json ga yoziladi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0652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O'limlar, o'ldirilganlar va Iymon saqlanadi.</a:t>
            </a:r>
          </a:p>
        </p:txBody>
      </p:sp>
      <p:pic>
        <p:nvPicPr>
          <p:cNvPr id="38" name="Picture 37" descr="49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4411979"/>
            <a:ext cx="3657600" cy="2171700"/>
          </a:xfrm>
          <a:prstGeom prst="rect">
            <a:avLst/>
          </a:prstGeom>
        </p:spPr>
      </p:pic>
      <p:pic>
        <p:nvPicPr>
          <p:cNvPr id="40" name="Picture 39" descr="51_respa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4411979"/>
            <a:ext cx="3657600" cy="21717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OQIM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Interfeys: Temir va Firuza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O'ziga xos dizayn tizimi — chapga tekislangan, muharrirona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24128" cy="658368"/>
          </a:xfrm>
          <a:prstGeom prst="rect">
            <a:avLst/>
          </a:prstGeom>
          <a:solidFill>
            <a:srgbClr val="0E1316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fon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#0E1316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9112" y="1600200"/>
            <a:ext cx="1024128" cy="65836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39112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panel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#161D21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9544" y="1600200"/>
            <a:ext cx="1024128" cy="658368"/>
          </a:xfrm>
          <a:prstGeom prst="rect">
            <a:avLst/>
          </a:prstGeom>
          <a:solidFill>
            <a:srgbClr val="2A353A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9544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chiziq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#2A353A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1600200"/>
            <a:ext cx="1024128" cy="658368"/>
          </a:xfrm>
          <a:prstGeom prst="rect">
            <a:avLst/>
          </a:prstGeom>
          <a:solidFill>
            <a:srgbClr val="E4EAEA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79976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matn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#E4EAEA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0408" y="1600200"/>
            <a:ext cx="1024128" cy="658368"/>
          </a:xfrm>
          <a:prstGeom prst="rect">
            <a:avLst/>
          </a:prstGeom>
          <a:solidFill>
            <a:srgbClr val="7C8B8F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50408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so'nik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#7C8B8F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1600200"/>
            <a:ext cx="1024128" cy="658368"/>
          </a:xfrm>
          <a:prstGeom prst="rect">
            <a:avLst/>
          </a:prstGeom>
          <a:solidFill>
            <a:srgbClr val="48A9B5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feruza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#48A9B5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1271" y="1600200"/>
            <a:ext cx="1024128" cy="658368"/>
          </a:xfrm>
          <a:prstGeom prst="rect">
            <a:avLst/>
          </a:prstGeom>
          <a:solidFill>
            <a:srgbClr val="C09660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91271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zarhal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#C09660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1704" y="1600200"/>
            <a:ext cx="1024128" cy="658368"/>
          </a:xfrm>
          <a:prstGeom prst="rect">
            <a:avLst/>
          </a:prstGeom>
          <a:solidFill>
            <a:srgbClr val="BC5A44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61704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yara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#BC5A44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32136" y="1600200"/>
            <a:ext cx="1024128" cy="658368"/>
          </a:xfrm>
          <a:prstGeom prst="rect">
            <a:avLst/>
          </a:prstGeom>
          <a:solidFill>
            <a:srgbClr val="DCD3C4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232136" y="2331720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DCD3C4"/>
                </a:solidFill>
                <a:latin typeface="Calibri"/>
              </a:rPr>
              <a:t>suyak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32136" y="2551176"/>
            <a:ext cx="10241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850" b="0" i="0">
                <a:solidFill>
                  <a:srgbClr val="2A353A"/>
                </a:solidFill>
                <a:latin typeface="Calibri"/>
              </a:rPr>
              <a:t>#DCD3C4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9815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69848" y="3017520"/>
            <a:ext cx="546811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Kichik kvadrat.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Butun interfeysning yagona motivi — 'mix boshi'.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364845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69848" y="3566160"/>
            <a:ext cx="546811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Feruza = tanlash.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Zarhal = qiymat. Yara = xavf. Boshqa rang yo'q.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419709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9848" y="4114800"/>
            <a:ext cx="546811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Klavish qayta biriktirish.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Har harakat ustiga bosing va yangi klavishni bosing — sozlamalar bosilgan klavish NOMINI ko'rsatadi.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474573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9848" y="4663440"/>
            <a:ext cx="546811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Uch til.  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Menyu, HUD, subtitr va epizod nomlari — hammasi tarjima qilingan.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6852" y="2930652"/>
            <a:ext cx="4517136" cy="2716590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1" name="Picture 40" descr="05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971800"/>
            <a:ext cx="4434840" cy="263318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INTERFEYS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Audio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912 ta ovozli replika + 9 ta protsedural jang tovushi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029200" cy="16459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9848" y="1837943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52728" y="1764792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Ovozli replikalar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167128"/>
            <a:ext cx="46268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Har uch til uchun 309 tadan WAV — jami 912. PowerShell System.Speech bilan oldindan yaratilgan, o'yin ichida SAPI zaxira yo'li ham bor. Cutscene subtitri bilan aniq sinxron.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029200" cy="164592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64807" y="1837943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1764792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Aralashtirgich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7" y="2167128"/>
            <a:ext cx="46268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waveOut asosidagi o'z mikseri: 5 shina (master, musiqa, effekt, ovoz, muhit). Tashqi kutubxona yo'q. Sozlamalarda har shina alohida boshqariladi.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47288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CD3C4"/>
                </a:solidFill>
                <a:latin typeface="Cambria"/>
              </a:rPr>
              <a:t>Jang tovushlari — protsedural sintez, tovush fayli yo'q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867912"/>
            <a:ext cx="10424160" cy="420624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97280" y="40325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98448" y="39684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O'lim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968496"/>
            <a:ext cx="6126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past pasayuvchi sinus + shovqin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968496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1108 Gts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325112"/>
            <a:ext cx="10424160" cy="420624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97280" y="44897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44256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Zarba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425696"/>
            <a:ext cx="6126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190-&gt;72 Gts + quruq shovqin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425696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1922 Gts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782312"/>
            <a:ext cx="10424160" cy="420624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7280" y="49469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98448" y="48828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Qalqon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4882896"/>
            <a:ext cx="6126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garmonik BO'LMAGAN qismlar 1 : 1.52 : 2.14 : 2.84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882896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2227 Gts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5239512"/>
            <a:ext cx="10424160" cy="420624"/>
          </a:xfrm>
          <a:prstGeom prst="rect">
            <a:avLst/>
          </a:prstGeom>
          <a:solidFill>
            <a:srgbClr val="1B2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97280" y="54041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98448" y="53400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Parry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5340096"/>
            <a:ext cx="6126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o'sha nisbat, yuqoriroq va uzunroq 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5340096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3291 Gts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696712"/>
            <a:ext cx="10424160" cy="420624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97280" y="586130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98448" y="57972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Qilich yoyi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797296"/>
            <a:ext cx="6126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o'rtada ochiladigan filtr + qo'ng'iroq konvert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5797296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C09660"/>
                </a:solidFill>
                <a:latin typeface="Calibri"/>
              </a:rPr>
              <a:t>3524 Gts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6245352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Metall jarangi BUTUN SONLI BO'LMAGAN nisbatdan chiqadi — garmonik qismlar 'musiqiy' eshitiladi va zarbaga o'xshamaydi.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AUDIO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Texnologiya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O'z dvigateli — tashqi kutubxona nol 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9660"/>
                </a:solidFill>
                <a:latin typeface="Cambria"/>
              </a:rPr>
              <a:t>Nima ishlatiladi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01168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213055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13055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C++20, MinGW-w64 g++ 16.1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1460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63347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Grafika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63347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Win32 + fixed-function OpenGL 1.1 + GLU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01752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36391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Yig'ish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136391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CMake + Ninja, 25 nishon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52043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78992" y="3639311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Rasm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639311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GDI+ dekod -&gt; GL teksturalari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02335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4142231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Shrift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142231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GDI glif atlasi (UTF-8, uz/tr belgilari)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52627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" y="4645151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8A9B5"/>
                </a:solidFill>
                <a:latin typeface="Calibri"/>
              </a:rPr>
              <a:t>Ovoz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645151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4EAEA"/>
                </a:solidFill>
                <a:latin typeface="Calibri"/>
              </a:rPr>
              <a:t>waveOut mikser + SAPI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60020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C8B8F"/>
                </a:solidFill>
                <a:latin typeface="Cambria"/>
              </a:rPr>
              <a:t>Nima ishlatilmaydi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01168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73952" y="21305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GLFW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1305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51460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263347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GLM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63347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017520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73952" y="3136391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tinyobjloader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13639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352043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73952" y="3639311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Shader / VBO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363931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402335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73952" y="4142231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Fizika dvigateli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414223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BC5A44"/>
                </a:solidFill>
                <a:latin typeface="Calibri"/>
              </a:rPr>
              <a:t>yo'q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4526279"/>
            <a:ext cx="5029200" cy="45720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73952" y="4645151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CD3C4"/>
                </a:solidFill>
                <a:latin typeface="Calibri"/>
              </a:rPr>
              <a:t>nlohmann/json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464515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C8B8F"/>
                </a:solidFill>
                <a:latin typeface="Calibri"/>
              </a:rPr>
              <a:t>yagona bundle qilingan header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5166360"/>
            <a:ext cx="10424160" cy="960120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43000" y="53492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1" i="0">
                <a:solidFill>
                  <a:srgbClr val="C09660"/>
                </a:solidFill>
                <a:latin typeface="Calibri"/>
              </a:rPr>
              <a:t>Modellar statik .obj — skelet yo'q.</a:t>
            </a:r>
            <a:r>
              <a:rPr sz="1250" b="0" i="0">
                <a:solidFill>
                  <a:srgbClr val="E4EAEA"/>
                </a:solidFill>
                <a:latin typeface="Calibri"/>
              </a:rPr>
              <a:t>  Skin.cpp chegara qutisi bo'yicha 12 ta virtual suyakka avtomatik rigging qiladi va 30 Gts da CPU da skinlaydi. Bo'yin balandligi meshdan o'lchanadi, 36 ta animatsiya protsedural poza funksiyalari bilan quriladi.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TEXNOLOGIYA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Raqamlar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Loyihaning hozirgi holati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19 528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4144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qator C++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4328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856232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44144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manba fayli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9976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79976" y="1856232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9976" y="244144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epizod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1856232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5624" y="244144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cutscene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1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91271" y="1856232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244144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daraja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46919" y="160020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46919" y="1856232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921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19" y="244144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audio fayl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364991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928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95020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tarjima kaliti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24328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24328" y="3364991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4328" y="395020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animatsiya klipi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9976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79976" y="3364991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9976" y="395020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harakat holati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35624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35624" y="3364991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24" y="395020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dushman turi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91271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91271" y="3364991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C09660"/>
                </a:solidFill>
                <a:latin typeface="Cambria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1271" y="395020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epizod arxetipi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46919" y="3108960"/>
            <a:ext cx="1591056" cy="1298448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46919" y="3364991"/>
            <a:ext cx="15910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48A9B5"/>
                </a:solidFill>
                <a:latin typeface="Cambria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19" y="3950208"/>
            <a:ext cx="15910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C8B8F"/>
                </a:solidFill>
                <a:latin typeface="Calibri"/>
              </a:rPr>
              <a:t>til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4846320"/>
            <a:ext cx="10424160" cy="868680"/>
          </a:xfrm>
          <a:prstGeom prst="rect">
            <a:avLst/>
          </a:prstGeom>
          <a:solidFill>
            <a:srgbClr val="1B2428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43000" y="5020056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300" b="1" i="0">
                <a:solidFill>
                  <a:srgbClr val="48A9B5"/>
                </a:solidFill>
                <a:latin typeface="Calibri"/>
              </a:rPr>
              <a:t>Sifat holati.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Toza yig'ilish: 25/25 nishon, 0 xato, 0 ogohlantirish. Kontent tekshiruvi: 928 kalitdan 0 tasi topilmagan, 921 audio fayl joyida. Oyoq sirg'alishi: SLIP 0.0% (mezon 3%).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HOLAT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Ochiq kamchiliklar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Halol ro'yxat — hali bajarilmagan ishlar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9848" y="1837943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52728" y="1746504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Jang balansi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0574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Vitals::receive poza zararini 0.7 ga qisadi; zarba jadvali shunga qarab qayta balanslanmagan.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64808" y="1837943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1746504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Parry bepul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0574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Blok nafas sarflaydi, parry esa yo'q — muvozanatsizlik.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715768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69848" y="2953511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52728" y="286207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Dushman bloki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172968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Burchak tekshirilmaydi: orqadan urganda ham qalqon ushlaydi.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15768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64808" y="2953511"/>
            <a:ext cx="68580" cy="68580"/>
          </a:xfrm>
          <a:prstGeom prst="rect">
            <a:avLst/>
          </a:prstGeom>
          <a:solidFill>
            <a:srgbClr val="B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47688" y="286207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Zarba balandligi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172968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O'yinchi zarbasi Y o'qini tekshirmaydi — pastdagi va tepadagi dushmanga ham tegadi.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831335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69848" y="4069079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52728" y="3977639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Skelet animatsiya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4288536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Modellarda suyak yo'q; quti bo'yicha rigging chegarasi bor.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831335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64808" y="4069079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47688" y="3977639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Shader 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8" y="4288536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Fixed-function OpenGL 1.1 — soya xaritasi va PBR imkonsiz.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4946904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69848" y="5184648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52728" y="50932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Faqat Windows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5404104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Win32 ga bevosita bog'langan; port qilish katta ish.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46904"/>
            <a:ext cx="5074920" cy="98755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64808" y="5184648"/>
            <a:ext cx="68580" cy="68580"/>
          </a:xfrm>
          <a:prstGeom prst="rect">
            <a:avLst/>
          </a:prstGeom>
          <a:solidFill>
            <a:srgbClr val="7C8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47688" y="50932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CD3C4"/>
                </a:solidFill>
                <a:latin typeface="Cambria"/>
              </a:rPr>
              <a:t>Git Bash segfault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4808" y="5404104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E4EAEA"/>
                </a:solidFill>
                <a:latin typeface="Calibri"/>
              </a:rPr>
              <a:t>PowerShell va Explorer dan ishlaydi, Git Bash dan yo'q — sabab aniqlanmagan.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HOLAT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Demo xarita va aktivlar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Xaritaning o'rtasi Blender'da tayyorlanmoqda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5120640" cy="1783080"/>
          </a:xfrm>
          <a:prstGeom prst="rect">
            <a:avLst/>
          </a:prstGeom>
          <a:solidFill>
            <a:srgbClr val="161D21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7280" y="1856232"/>
            <a:ext cx="77724" cy="77724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98448" y="17647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8A9B5"/>
                </a:solidFill>
                <a:latin typeface="Cambria"/>
              </a:rPr>
              <a:t>Demo xarita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03704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Yangi demo xarita — "Qayi obasi, vodiy": halqa bo'lib tizilgan o'tovlar, tepaliklar, qalin qarag'ayzor va oltin soat yoritishi. 1 884 obyekt, 1 457 to'qnashuv qutisi. Markaziy qism Blender'da modellashtirilmoqda.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600200"/>
            <a:ext cx="5120640" cy="1783080"/>
          </a:xfrm>
          <a:prstGeom prst="rect">
            <a:avLst/>
          </a:prstGeom>
          <a:solidFill>
            <a:srgbClr val="161D21"/>
          </a:solidFill>
          <a:ln w="1270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856232"/>
            <a:ext cx="77724" cy="77724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17647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9660"/>
                </a:solidFill>
                <a:latin typeface="Cambria"/>
              </a:rPr>
              <a:t>Chodir (o'tov) — tayyor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03704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300" b="0" i="0">
                <a:solidFill>
                  <a:srgbClr val="E4EAEA"/>
                </a:solidFill>
                <a:latin typeface="Calibri"/>
              </a:rPr>
              <a:t>Qayi o'tovi modellashtirildi va teksturalandi: 48 565 uchburchak, 27 280 verteks, uch burchakli topologiya. Model tayyor va o'yinga qo'yilish arafasida turibdi — keyingi qadam shu.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593592"/>
            <a:ext cx="5120640" cy="2331720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434840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7C8B8F"/>
                </a:solidFill>
                <a:latin typeface="Calibri"/>
              </a:rPr>
              <a:t>O'tov renderi shu yerga qo'yiladi</a:t>
            </a:r>
            <a:r>
              <a:rPr sz="1100" b="0" i="0">
                <a:solidFill>
                  <a:srgbClr val="2A353A"/>
                </a:solidFill>
                <a:latin typeface="Consolas"/>
              </a:rPr>
              <a:t>
docs/brand/yurt.png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6772" y="3598164"/>
            <a:ext cx="5146548" cy="2417856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valley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639312"/>
            <a:ext cx="5074920" cy="23500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7920" y="60350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A353A"/>
                </a:solidFill>
                <a:latin typeface="Calibri"/>
              </a:rPr>
              <a:t>Qayi obasi, vodiy — o'yin ichidan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ISHLAB CHIQISH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20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6F6EF28D-0C70-4958-9A6F-CFFE9DBE4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598164"/>
            <a:ext cx="5120639" cy="23271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Ishlab chiqish holati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Loyiha boshlanganiga bir hafta bo'ldi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243230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9660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24323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hafta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0439" y="1801368"/>
            <a:ext cx="243230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48A9B5"/>
                </a:solidFill>
                <a:latin typeface="Cambria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2478024"/>
            <a:ext cx="24323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epizod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72200" y="1801368"/>
            <a:ext cx="243230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9660"/>
                </a:solidFill>
                <a:latin typeface="Cambria"/>
              </a:rPr>
              <a:t>19.5k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478024"/>
            <a:ext cx="24323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qator C++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59" y="1600200"/>
            <a:ext cx="2432304" cy="1325880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23959" y="1801368"/>
            <a:ext cx="243230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48A9B5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59" y="2478024"/>
            <a:ext cx="24323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demo xarita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200400"/>
            <a:ext cx="10424160" cy="1298448"/>
          </a:xfrm>
          <a:prstGeom prst="rect">
            <a:avLst/>
          </a:prstGeom>
          <a:solidFill>
            <a:srgbClr val="161D21"/>
          </a:solidFill>
          <a:ln w="1270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15568" y="3447288"/>
            <a:ext cx="77724" cy="77724"/>
          </a:xfrm>
          <a:prstGeom prst="rect">
            <a:avLst/>
          </a:prstGeom>
          <a:solidFill>
            <a:srgbClr val="C096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3355848"/>
            <a:ext cx="9692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400" b="1" i="0">
                <a:solidFill>
                  <a:srgbClr val="C09660"/>
                </a:solidFill>
                <a:latin typeface="Calibri"/>
              </a:rPr>
              <a:t>Aktivlar sun'iy intellekt bilan yaratilgan.</a:t>
            </a:r>
            <a:r>
              <a:rPr sz="1300" b="0" i="0">
                <a:solidFill>
                  <a:srgbClr val="E4EAEA"/>
                </a:solidFill>
                <a:latin typeface="Calibri"/>
              </a:rPr>
              <a:t>  Modellar, teksturalar va ovozli replikalarning katta qismi AI orqali generatsiya qilindi. Aynan shuning uchun ularni o'yinga moslashtirish vaqt oladi: har bir model qayta topologiyalanishi, masshtabi va o'qlari to'g'rilanishi, teksturasi o'yin uslubiga keltirilishi kerak. Chodir ana shu jarayondan o'tdi va endi o'yinga qo'yiladi.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CD3C4"/>
                </a:solidFill>
                <a:latin typeface="Cambria"/>
              </a:rPr>
              <a:t>Bir haftada nimalar qilindi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120640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69848" y="530352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71016" y="5212079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Yadro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212079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O'z dvigateli, menyular, 3 til, 48 epizod ma'lumoti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5120640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64808" y="530352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65976" y="5212079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Harakat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212079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AC darajasidagi lokomotsiya, parkur, oyoq sirg'alishi 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5961888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69848" y="614476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71016" y="6053327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Jang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6053327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Uch resurs, 6 dushman, kamon, Iymon, zarba qaytarmasi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961888"/>
            <a:ext cx="5074920" cy="731520"/>
          </a:xfrm>
          <a:prstGeom prst="rect">
            <a:avLst/>
          </a:prstGeom>
          <a:solidFill>
            <a:srgbClr val="16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64808" y="614476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65976" y="6053327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48A9B5"/>
                </a:solidFill>
                <a:latin typeface="Calibri"/>
              </a:rPr>
              <a:t>Halqa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6053327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To'lqinlar, nazorat nuqtasi, o'lim va qayta tug'ilish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ISHLAB CHIQISH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Loyiha videosi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2 daqiqa 55 soniya — o'yinning hozirgi yakuniy ko'rinishi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7531" y="1559052"/>
            <a:ext cx="6757416" cy="4047317"/>
          </a:xfrm>
          <a:prstGeom prst="rect">
            <a:avLst/>
          </a:prstGeom>
          <a:noFill/>
          <a:ln w="12700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video_st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6675120" cy="37547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8120" y="1600200"/>
            <a:ext cx="3474720" cy="3968496"/>
          </a:xfrm>
          <a:prstGeom prst="rect">
            <a:avLst/>
          </a:prstGeom>
          <a:solidFill>
            <a:srgbClr val="161D21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0" y="180136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Videoda nima bor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232257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47888" y="2240280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Vodiy xaritasi — kran plani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70662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47888" y="2624328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Yurish, yugurish, sprint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309067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7888" y="3008376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Burilish yoyi va inersiya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474720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3392424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Sakrash va parkur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3858768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8" y="3776472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Bilge Ko'z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4242816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47888" y="4160520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Kamon — tortish va otish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626864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47888" y="4544568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Qilich jangi va parry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5010912"/>
            <a:ext cx="68580" cy="6858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47888" y="4928616"/>
            <a:ext cx="281635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Halokat va qayta tug'ilish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824728"/>
            <a:ext cx="10424160" cy="731520"/>
          </a:xfrm>
          <a:prstGeom prst="rect">
            <a:avLst/>
          </a:prstGeom>
          <a:solidFill>
            <a:srgbClr val="1B2428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15568" y="598932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9660"/>
                </a:solidFill>
                <a:latin typeface="Calibri"/>
              </a:rPr>
              <a:t>Havola:</a:t>
            </a:r>
            <a:r>
              <a:rPr sz="1250" b="0" i="0">
                <a:solidFill>
                  <a:srgbClr val="E4EAEA"/>
                </a:solidFill>
                <a:latin typeface="Consolas"/>
              </a:rPr>
              <a:t>   docs/Blades_of_Anatolia_demo.mp4   —   1280x720, 30 k/s, 33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VIDEO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603504"/>
            <a:ext cx="91440" cy="91440"/>
          </a:xfrm>
          <a:prstGeom prst="rect">
            <a:avLst/>
          </a:prstGeom>
          <a:solidFill>
            <a:srgbClr val="48A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DCD3C4"/>
                </a:solidFill>
                <a:latin typeface="Cambria"/>
              </a:rPr>
              <a:t>Jamoa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60704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C8B8F"/>
                </a:solidFill>
                <a:latin typeface="Calibri"/>
              </a:rPr>
              <a:t>Uch kishi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10424160" cy="135331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15568" y="1874519"/>
            <a:ext cx="786384" cy="786384"/>
          </a:xfrm>
          <a:prstGeom prst="rect">
            <a:avLst/>
          </a:prstGeom>
          <a:solidFill>
            <a:srgbClr val="1B2428"/>
          </a:solidFill>
          <a:ln w="12700">
            <a:solidFill>
              <a:srgbClr val="C09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5568" y="2075688"/>
            <a:ext cx="78638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C09660"/>
                </a:solidFill>
                <a:latin typeface="Cambria"/>
              </a:rPr>
              <a:t>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408" y="1801368"/>
            <a:ext cx="5852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MANSUROV ISLOMBEK BAXROMBEKOVICH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14884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09660"/>
                </a:solidFill>
                <a:latin typeface="Calibri"/>
              </a:rPr>
              <a:t>Jamoa rahbari  ·  Game Developer / Designer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2459736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167-sonli maktab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911095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+998 99 790 15 53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22199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mansurovislombek130@gmail.com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063240"/>
            <a:ext cx="10424160" cy="135331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15568" y="3337560"/>
            <a:ext cx="786384" cy="786384"/>
          </a:xfrm>
          <a:prstGeom prst="rect">
            <a:avLst/>
          </a:prstGeom>
          <a:solidFill>
            <a:srgbClr val="1B2428"/>
          </a:solidFill>
          <a:ln w="12700">
            <a:solidFill>
              <a:srgbClr val="48A9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15568" y="3538728"/>
            <a:ext cx="78638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48A9B5"/>
                </a:solidFill>
                <a:latin typeface="Cambria"/>
              </a:rPr>
              <a:t>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264408"/>
            <a:ext cx="5852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RAXMANOVA MARFU'A YUSUFBEKOVNA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21408" y="361188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8A9B5"/>
                </a:solidFill>
                <a:latin typeface="Calibri"/>
              </a:rPr>
              <a:t>A'zo  ·  Co-Founder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3922776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Respublika Ixtisoslashtirilgan Ftiziatriya va Pulmonologiya Markazi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37413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+998 99 790 15 53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68503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rakhmonovamunira85@gmail.com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526280"/>
            <a:ext cx="10424160" cy="1353312"/>
          </a:xfrm>
          <a:prstGeom prst="rect">
            <a:avLst/>
          </a:prstGeom>
          <a:solidFill>
            <a:srgbClr val="161D21"/>
          </a:solidFill>
          <a:ln w="9525">
            <a:solidFill>
              <a:srgbClr val="2A3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15568" y="4800600"/>
            <a:ext cx="786384" cy="786384"/>
          </a:xfrm>
          <a:prstGeom prst="rect">
            <a:avLst/>
          </a:prstGeom>
          <a:solidFill>
            <a:srgbClr val="1B2428"/>
          </a:solidFill>
          <a:ln w="12700">
            <a:solidFill>
              <a:srgbClr val="DC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15568" y="5001768"/>
            <a:ext cx="78638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DCD3C4"/>
                </a:solidFill>
                <a:latin typeface="Cambria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21408" y="4727448"/>
            <a:ext cx="5852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CD3C4"/>
                </a:solidFill>
                <a:latin typeface="Cambria"/>
              </a:rPr>
              <a:t>AGZAMOV MIRAKBAR ALISHER O'G'LI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5074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DCD3C4"/>
                </a:solidFill>
                <a:latin typeface="Calibri"/>
              </a:rPr>
              <a:t>A'zo  ·  AI muhandis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1408" y="5385816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C8B8F"/>
                </a:solidFill>
                <a:latin typeface="Calibri"/>
              </a:rPr>
              <a:t>280-sonli maktab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83717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E4EAEA"/>
                </a:solidFill>
                <a:latin typeface="Calibri"/>
              </a:rPr>
              <a:t>+998 99 202 57 97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14807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0" i="0">
                <a:solidFill>
                  <a:srgbClr val="7C8B8F"/>
                </a:solidFill>
                <a:latin typeface="Calibri"/>
              </a:rPr>
              <a:t>agzamovanozimahon@gmail.com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JAMOA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 i="0">
                <a:solidFill>
                  <a:srgbClr val="2A353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567" y="960120"/>
            <a:ext cx="2194560" cy="2194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401568"/>
            <a:ext cx="10360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48A9B5"/>
                </a:solidFill>
                <a:latin typeface="Cambria"/>
              </a:rPr>
              <a:t>Bir jumlada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53135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700" b="0" i="0">
                <a:solidFill>
                  <a:srgbClr val="E4EAEA"/>
                </a:solidFill>
                <a:latin typeface="Cambria"/>
              </a:rPr>
              <a:t>Tashqi kutubxonasiz, sof C++ da yozilgan uchinchi shaxs o'yini: AC darajasidagi harakat, Sekiro og'irligidagi jang va 48 epizodli tarixiy hikoya — hammasi bitta dvigatelda.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5230368"/>
            <a:ext cx="2313432" cy="18288"/>
          </a:xfrm>
          <a:prstGeom prst="rect">
            <a:avLst/>
          </a:prstGeom>
          <a:solidFill>
            <a:srgbClr val="2A3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468112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C09660"/>
                </a:solidFill>
                <a:latin typeface="Calibri"/>
              </a:rPr>
              <a:t>19 528 qator  ·  25/25 nishon  ·  0 xato  ·  0 ogohlantirish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2473</Words>
  <Application>Microsoft Office PowerPoint</Application>
  <PresentationFormat>Широкоэкранный</PresentationFormat>
  <Paragraphs>491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IsaFrDev@outlook.com</cp:lastModifiedBy>
  <cp:revision>2</cp:revision>
  <dcterms:created xsi:type="dcterms:W3CDTF">2013-01-27T09:14:16Z</dcterms:created>
  <dcterms:modified xsi:type="dcterms:W3CDTF">2026-08-31T13:31:48Z</dcterms:modified>
  <cp:category/>
</cp:coreProperties>
</file>