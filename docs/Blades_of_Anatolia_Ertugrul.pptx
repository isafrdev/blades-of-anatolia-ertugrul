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754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3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4127" y="411480"/>
            <a:ext cx="4663440" cy="441472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4892040"/>
            <a:ext cx="1036015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 i="0">
                <a:solidFill>
                  <a:srgbClr val="7C8B8F"/>
                </a:solidFill>
                <a:latin typeface="Calibri"/>
              </a:rPr>
              <a:t>XIII asr Anadolusi  ·  Uchinchi shaxs  ·  Yashirinlik va jang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937760" y="5468112"/>
            <a:ext cx="2313432" cy="18288"/>
          </a:xfrm>
          <a:prstGeom prst="rect">
            <a:avLst/>
          </a:prstGeom>
          <a:solidFill>
            <a:srgbClr val="2A3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5687568"/>
            <a:ext cx="103601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C09660"/>
                </a:solidFill>
                <a:latin typeface="Calibri"/>
              </a:rPr>
              <a:t>48 epizod  ·  4 mavsum  ·  3 til  ·  o'z dvigateli, sof C++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3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03504"/>
            <a:ext cx="91440" cy="91440"/>
          </a:xfrm>
          <a:prstGeom prst="rect">
            <a:avLst/>
          </a:prstGeom>
          <a:solidFill>
            <a:srgbClr val="48A9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475488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DCD3C4"/>
                </a:solidFill>
                <a:latin typeface="Cambria"/>
              </a:rPr>
              <a:t>Bir qarashda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060704"/>
            <a:ext cx="10881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7C8B8F"/>
                </a:solidFill>
                <a:latin typeface="Calibri"/>
              </a:rPr>
              <a:t>Loyiha nima va nimasi bilan ajralib turadi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600200"/>
            <a:ext cx="649224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1700" b="1" i="0">
                <a:solidFill>
                  <a:srgbClr val="C09660"/>
                </a:solidFill>
                <a:latin typeface="Calibri"/>
              </a:rPr>
              <a:t>Dirilish: Ertug'rul</a:t>
            </a:r>
            <a:r>
              <a:rPr sz="1500" b="0" i="0">
                <a:solidFill>
                  <a:srgbClr val="E4EAEA"/>
                </a:solidFill>
                <a:latin typeface="Calibri"/>
              </a:rPr>
              <a:t> — 1227-1261 yillar Anadolusida kechadigan uchinchi shaxs sarguzashti. Qayi obasining ko'chishi, Templar tartibi bilan to'qnashuv va Ertug'rulning shakllanishi 48 epizodda hikoya qilinadi.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834640"/>
            <a:ext cx="649224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1400" b="0" i="0">
                <a:solidFill>
                  <a:srgbClr val="7C8B8F"/>
                </a:solidFill>
                <a:latin typeface="Calibri"/>
              </a:rPr>
              <a:t>O'yin Assassin's Creed ning harakat erkinligini Sekiro ning jazolovchi jangi bilan birlashtiradi: yengil zarba yetarli emas, muvozanatni buzish kerak. Uchta dushman o'ldirishi mumkin, beshtasi — albatta.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114800"/>
            <a:ext cx="1572768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 i="0">
                <a:solidFill>
                  <a:srgbClr val="C09660"/>
                </a:solidFill>
                <a:latin typeface="Cambria"/>
              </a:rPr>
              <a:t>48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901184"/>
            <a:ext cx="1572768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7C8B8F"/>
                </a:solidFill>
                <a:latin typeface="Calibri"/>
              </a:rPr>
              <a:t>epizod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32888" y="4114800"/>
            <a:ext cx="1572768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 i="0">
                <a:solidFill>
                  <a:srgbClr val="48A9B5"/>
                </a:solidFill>
                <a:latin typeface="Cambria"/>
              </a:rPr>
              <a:t>19.5k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32888" y="4901184"/>
            <a:ext cx="1572768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7C8B8F"/>
                </a:solidFill>
                <a:latin typeface="Calibri"/>
              </a:rPr>
              <a:t>qator C++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97096" y="4114800"/>
            <a:ext cx="1572768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 i="0">
                <a:solidFill>
                  <a:srgbClr val="C09660"/>
                </a:solidFill>
                <a:latin typeface="Cambria"/>
              </a:rPr>
              <a:t>921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97096" y="4901184"/>
            <a:ext cx="1572768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7C8B8F"/>
                </a:solidFill>
                <a:latin typeface="Calibri"/>
              </a:rPr>
              <a:t>ovoz fayli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61304" y="4114800"/>
            <a:ext cx="1572768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 i="0">
                <a:solidFill>
                  <a:srgbClr val="48A9B5"/>
                </a:solidFill>
                <a:latin typeface="Cambria"/>
              </a:rPr>
              <a:t>928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61304" y="4901184"/>
            <a:ext cx="1572768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7C8B8F"/>
                </a:solidFill>
                <a:latin typeface="Calibri"/>
              </a:rPr>
              <a:t>tarjima kaliti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6972" y="1604772"/>
            <a:ext cx="3602736" cy="2173437"/>
          </a:xfrm>
          <a:prstGeom prst="rect">
            <a:avLst/>
          </a:prstGeom>
          <a:noFill/>
          <a:ln w="12700">
            <a:solidFill>
              <a:srgbClr val="2A3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6" name="Picture 15" descr="11_gamep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1645920"/>
            <a:ext cx="3520440" cy="2090261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818120" y="3813048"/>
            <a:ext cx="3520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2A353A"/>
                </a:solidFill>
                <a:latin typeface="Calibri"/>
              </a:rPr>
              <a:t>Sog'ut qishlog'i — o'yin ichidan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3550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0" i="0">
                <a:solidFill>
                  <a:srgbClr val="2A353A"/>
                </a:solidFill>
                <a:latin typeface="Calibri"/>
              </a:rPr>
              <a:t>BLADES OF ANATOLIA: ERTUGRUL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24160" y="635508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50" b="0" i="0">
                <a:solidFill>
                  <a:srgbClr val="2A353A"/>
                </a:solidFill>
                <a:latin typeface="Calibr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3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03504"/>
            <a:ext cx="91440" cy="91440"/>
          </a:xfrm>
          <a:prstGeom prst="rect">
            <a:avLst/>
          </a:prstGeom>
          <a:solidFill>
            <a:srgbClr val="48A9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475488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DCD3C4"/>
                </a:solidFill>
                <a:latin typeface="Cambria"/>
              </a:rPr>
              <a:t>Dunyo va davr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060704"/>
            <a:ext cx="10881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7C8B8F"/>
                </a:solidFill>
                <a:latin typeface="Calibri"/>
              </a:rPr>
              <a:t>Tarixiy langar: 1227-1261, Anadolu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600200"/>
            <a:ext cx="5029200" cy="1298448"/>
          </a:xfrm>
          <a:prstGeom prst="rect">
            <a:avLst/>
          </a:prstGeom>
          <a:solidFill>
            <a:srgbClr val="161D21"/>
          </a:solidFill>
          <a:ln w="9525">
            <a:solidFill>
              <a:srgbClr val="2A3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69848" y="1837943"/>
            <a:ext cx="68580" cy="68580"/>
          </a:xfrm>
          <a:prstGeom prst="rect">
            <a:avLst/>
          </a:prstGeom>
          <a:solidFill>
            <a:srgbClr val="48A9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52728" y="1764792"/>
            <a:ext cx="446227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C09660"/>
                </a:solidFill>
                <a:latin typeface="Cambria"/>
              </a:rPr>
              <a:t>Qayi obasi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2167128"/>
            <a:ext cx="4626864" cy="5669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600"/>
              </a:spcAft>
            </a:pPr>
            <a:r>
              <a:rPr sz="1150" b="0" i="0">
                <a:solidFill>
                  <a:srgbClr val="E4EAEA"/>
                </a:solidFill>
                <a:latin typeface="Calibri"/>
              </a:rPr>
              <a:t>To'rt yuz chodir, bir podadan boshqa boyligi yo'q ko'chmanchi oba. Ocharchilik va mo'g'ul bosimi ularni g'arbga siqib chiqaradi.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3044952"/>
            <a:ext cx="5029200" cy="1298448"/>
          </a:xfrm>
          <a:prstGeom prst="rect">
            <a:avLst/>
          </a:prstGeom>
          <a:solidFill>
            <a:srgbClr val="161D21"/>
          </a:solidFill>
          <a:ln w="9525">
            <a:solidFill>
              <a:srgbClr val="2A3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069848" y="3282696"/>
            <a:ext cx="68580" cy="68580"/>
          </a:xfrm>
          <a:prstGeom prst="rect">
            <a:avLst/>
          </a:prstGeom>
          <a:solidFill>
            <a:srgbClr val="48A9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52728" y="3209544"/>
            <a:ext cx="446227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C09660"/>
                </a:solidFill>
                <a:latin typeface="Cambria"/>
              </a:rPr>
              <a:t>Uch kuch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" y="3611880"/>
            <a:ext cx="4626864" cy="5669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600"/>
              </a:spcAft>
            </a:pPr>
            <a:r>
              <a:rPr sz="1150" b="0" i="0">
                <a:solidFill>
                  <a:srgbClr val="E4EAEA"/>
                </a:solidFill>
                <a:latin typeface="Calibri"/>
              </a:rPr>
              <a:t>Salchuqiylar zaiflashmoqda, mo'g'ullar sharqdan bosmoqda, Templar tartibi esa savdo yo'llarini nazorat qilishga urinadi.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" y="4489704"/>
            <a:ext cx="5029200" cy="1298448"/>
          </a:xfrm>
          <a:prstGeom prst="rect">
            <a:avLst/>
          </a:prstGeom>
          <a:solidFill>
            <a:srgbClr val="161D21"/>
          </a:solidFill>
          <a:ln w="9525">
            <a:solidFill>
              <a:srgbClr val="2A3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069848" y="4727448"/>
            <a:ext cx="68580" cy="68580"/>
          </a:xfrm>
          <a:prstGeom prst="rect">
            <a:avLst/>
          </a:prstGeom>
          <a:solidFill>
            <a:srgbClr val="48A9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252728" y="4654296"/>
            <a:ext cx="446227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C09660"/>
                </a:solidFill>
                <a:latin typeface="Cambria"/>
              </a:rPr>
              <a:t>Ertug'rul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" y="5056632"/>
            <a:ext cx="4626864" cy="5669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600"/>
              </a:spcAft>
            </a:pPr>
            <a:r>
              <a:rPr sz="1150" b="0" i="0">
                <a:solidFill>
                  <a:srgbClr val="E4EAEA"/>
                </a:solidFill>
                <a:latin typeface="Calibri"/>
              </a:rPr>
              <a:t>Boshida — o'g'il. Oxirida — bey. O'yin uni qahramon deb ko'rsatmaydi: har qarori narx bilan keladi.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22492" y="1559052"/>
            <a:ext cx="5111496" cy="3069640"/>
          </a:xfrm>
          <a:prstGeom prst="rect">
            <a:avLst/>
          </a:prstGeom>
          <a:noFill/>
          <a:ln w="12700">
            <a:solidFill>
              <a:srgbClr val="2A3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8" name="Picture 17" descr="09_cutsce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600200"/>
            <a:ext cx="5029200" cy="2986088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6263640" y="4764024"/>
            <a:ext cx="5029200" cy="1298448"/>
          </a:xfrm>
          <a:prstGeom prst="rect">
            <a:avLst/>
          </a:prstGeom>
          <a:solidFill>
            <a:srgbClr val="1B2428"/>
          </a:solidFill>
          <a:ln w="9525">
            <a:solidFill>
              <a:srgbClr val="2A3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73952" y="4928616"/>
            <a:ext cx="46177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200" b="1" i="0">
                <a:solidFill>
                  <a:srgbClr val="C09660"/>
                </a:solidFill>
                <a:latin typeface="Calibri"/>
              </a:rPr>
              <a:t>Tarixiy aniqlik.</a:t>
            </a:r>
            <a:r>
              <a:rPr sz="1200" b="0" i="0">
                <a:solidFill>
                  <a:srgbClr val="E4EAEA"/>
                </a:solidFill>
                <a:latin typeface="Calibri"/>
              </a:rPr>
              <a:t>  Har epizodda hijriy va melodiy sana bor; hodisalar hujjatlashtirilganlik darajasi bilan belgilangan (DOCUMENTED / INFERRED / FICTION). Kodeks 'buni qayerdan bilamiz' degan savolga javob beradi.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63550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0" i="0">
                <a:solidFill>
                  <a:srgbClr val="2A353A"/>
                </a:solidFill>
                <a:latin typeface="Calibri"/>
              </a:rPr>
              <a:t>DUNYO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24160" y="635508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50" b="0" i="0">
                <a:solidFill>
                  <a:srgbClr val="2A353A"/>
                </a:solidFill>
                <a:latin typeface="Calibr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3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03504"/>
            <a:ext cx="91440" cy="91440"/>
          </a:xfrm>
          <a:prstGeom prst="rect">
            <a:avLst/>
          </a:prstGeom>
          <a:solidFill>
            <a:srgbClr val="48A9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475488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DCD3C4"/>
                </a:solidFill>
                <a:latin typeface="Cambria"/>
              </a:rPr>
              <a:t>Hikoya arxitekturasi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060704"/>
            <a:ext cx="10881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7C8B8F"/>
                </a:solidFill>
                <a:latin typeface="Calibri"/>
              </a:rPr>
              <a:t>4 mavsum x 12 epizod = 48 epizod, ~50 soat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600200"/>
            <a:ext cx="10424160" cy="932688"/>
          </a:xfrm>
          <a:prstGeom prst="rect">
            <a:avLst/>
          </a:prstGeom>
          <a:solidFill>
            <a:srgbClr val="161D21"/>
          </a:solidFill>
          <a:ln w="9525">
            <a:solidFill>
              <a:srgbClr val="2A3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5568" y="1783080"/>
            <a:ext cx="822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 i="0">
                <a:solidFill>
                  <a:srgbClr val="C09660"/>
                </a:solidFill>
                <a:latin typeface="Cambria"/>
              </a:rPr>
              <a:t>S1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1746504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48A9B5"/>
                </a:solidFill>
                <a:latin typeface="Calibri"/>
              </a:rPr>
              <a:t>1227-1229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2057400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DCD3C4"/>
                </a:solidFill>
                <a:latin typeface="Calibri"/>
              </a:rPr>
              <a:t>Och qarg'alar -&gt; Bagras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40680" y="1874519"/>
            <a:ext cx="56235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 i="0">
                <a:solidFill>
                  <a:srgbClr val="E4EAEA"/>
                </a:solidFill>
                <a:latin typeface="Calibri"/>
              </a:rPr>
              <a:t>Ocharchilik, birinchi qon, oba ichidagi ishonchsizlik.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2633472"/>
            <a:ext cx="10424160" cy="932688"/>
          </a:xfrm>
          <a:prstGeom prst="rect">
            <a:avLst/>
          </a:prstGeom>
          <a:solidFill>
            <a:srgbClr val="1B2428"/>
          </a:solidFill>
          <a:ln w="9525">
            <a:solidFill>
              <a:srgbClr val="2A3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15568" y="2816352"/>
            <a:ext cx="822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 i="0">
                <a:solidFill>
                  <a:srgbClr val="C09660"/>
                </a:solidFill>
                <a:latin typeface="Cambria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2779776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48A9B5"/>
                </a:solidFill>
                <a:latin typeface="Calibri"/>
              </a:rPr>
              <a:t>1230-1238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3090672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DCD3C4"/>
                </a:solidFill>
                <a:latin typeface="Calibri"/>
              </a:rPr>
              <a:t>Yassichemen -&gt; Mix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40680" y="2907791"/>
            <a:ext cx="56235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 i="0">
                <a:solidFill>
                  <a:srgbClr val="E4EAEA"/>
                </a:solidFill>
                <a:latin typeface="Calibri"/>
              </a:rPr>
              <a:t>Katta janglar. Qo'l jarohati (Mix) — qaytarib bo'lmas narx.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" y="3666744"/>
            <a:ext cx="10424160" cy="932688"/>
          </a:xfrm>
          <a:prstGeom prst="rect">
            <a:avLst/>
          </a:prstGeom>
          <a:solidFill>
            <a:srgbClr val="161D21"/>
          </a:solidFill>
          <a:ln w="9525">
            <a:solidFill>
              <a:srgbClr val="2A3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15568" y="3849624"/>
            <a:ext cx="822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 i="0">
                <a:solidFill>
                  <a:srgbClr val="C09660"/>
                </a:solidFill>
                <a:latin typeface="Cambria"/>
              </a:rPr>
              <a:t>S3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3813048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48A9B5"/>
                </a:solidFill>
                <a:latin typeface="Calibri"/>
              </a:rPr>
              <a:t>1238-1243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4123944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DCD3C4"/>
                </a:solidFill>
                <a:latin typeface="Calibri"/>
              </a:rPr>
              <a:t>Qorda uch kun -&gt; Sanoq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40680" y="3941063"/>
            <a:ext cx="56235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 i="0">
                <a:solidFill>
                  <a:srgbClr val="E4EAEA"/>
                </a:solidFill>
                <a:latin typeface="Calibri"/>
              </a:rPr>
              <a:t>Mo'g'ul bosqini. Omon qolish endi g'alabadan muhimroq.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8680" y="4700016"/>
            <a:ext cx="10424160" cy="932688"/>
          </a:xfrm>
          <a:prstGeom prst="rect">
            <a:avLst/>
          </a:prstGeom>
          <a:solidFill>
            <a:srgbClr val="1B2428"/>
          </a:solidFill>
          <a:ln w="9525">
            <a:solidFill>
              <a:srgbClr val="2A3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15568" y="4882896"/>
            <a:ext cx="822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 i="0">
                <a:solidFill>
                  <a:srgbClr val="C09660"/>
                </a:solidFill>
                <a:latin typeface="Cambria"/>
              </a:rPr>
              <a:t>S4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0" y="484632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48A9B5"/>
                </a:solidFill>
                <a:latin typeface="Calibri"/>
              </a:rPr>
              <a:t>1243-1261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0" y="5157216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DCD3C4"/>
                </a:solidFill>
                <a:latin typeface="Calibri"/>
              </a:rPr>
              <a:t>O'n ikki million -&gt; Tanga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4974336"/>
            <a:ext cx="56235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 i="0">
                <a:solidFill>
                  <a:srgbClr val="E4EAEA"/>
                </a:solidFill>
                <a:latin typeface="Calibri"/>
              </a:rPr>
              <a:t>Bey bo'lish. Qaror qilish — qilich urishdan og'irroq.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843016"/>
            <a:ext cx="10424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C09660"/>
                </a:solidFill>
                <a:latin typeface="Calibri"/>
              </a:rPr>
              <a:t>Har epizod</a:t>
            </a:r>
            <a:r>
              <a:rPr sz="1300" b="0" i="0">
                <a:solidFill>
                  <a:srgbClr val="E4EAEA"/>
                </a:solidFill>
                <a:latin typeface="Calibri"/>
              </a:rPr>
              <a:t>  ~62 daqiqa: intro cutscene -&gt; brifing -&gt; jang to'lqinlari -&gt; cliffhanger. Keyingi epizod faqat oldingisi bajarilgach ochiladi.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3550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0" i="0">
                <a:solidFill>
                  <a:srgbClr val="2A353A"/>
                </a:solidFill>
                <a:latin typeface="Calibri"/>
              </a:rPr>
              <a:t>HIKOYA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24160" y="635508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50" b="0" i="0">
                <a:solidFill>
                  <a:srgbClr val="2A353A"/>
                </a:solidFill>
                <a:latin typeface="Calibr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3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03504"/>
            <a:ext cx="91440" cy="91440"/>
          </a:xfrm>
          <a:prstGeom prst="rect">
            <a:avLst/>
          </a:prstGeom>
          <a:solidFill>
            <a:srgbClr val="48A9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475488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DCD3C4"/>
                </a:solidFill>
                <a:latin typeface="Cambria"/>
              </a:rPr>
              <a:t>Epizod arxetiplari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060704"/>
            <a:ext cx="10881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7C8B8F"/>
                </a:solidFill>
                <a:latin typeface="Calibri"/>
              </a:rPr>
              <a:t>To'qqiz xil epizod turi — jang halqasi shundan quriladi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600200"/>
            <a:ext cx="3310128" cy="1005840"/>
          </a:xfrm>
          <a:prstGeom prst="rect">
            <a:avLst/>
          </a:prstGeom>
          <a:solidFill>
            <a:srgbClr val="161D21"/>
          </a:solidFill>
          <a:ln w="9525">
            <a:solidFill>
              <a:srgbClr val="2A3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88136" y="1874519"/>
            <a:ext cx="68580" cy="68580"/>
          </a:xfrm>
          <a:prstGeom prst="rect">
            <a:avLst/>
          </a:prstGeom>
          <a:solidFill>
            <a:srgbClr val="48A9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71016" y="178308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48A9B5"/>
                </a:solidFill>
                <a:latin typeface="Calibri"/>
              </a:rPr>
              <a:t>SIEGE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71016" y="205740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DCD3C4"/>
                </a:solidFill>
                <a:latin typeface="Cambria"/>
              </a:rPr>
              <a:t>Qamal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71016" y="2313432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7C8B8F"/>
                </a:solidFill>
                <a:latin typeface="Calibri"/>
              </a:rPr>
              <a:t>Ko'p to'lqin, tor joy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07408" y="1600200"/>
            <a:ext cx="3310128" cy="1005840"/>
          </a:xfrm>
          <a:prstGeom prst="rect">
            <a:avLst/>
          </a:prstGeom>
          <a:solidFill>
            <a:srgbClr val="161D21"/>
          </a:solidFill>
          <a:ln w="9525">
            <a:solidFill>
              <a:srgbClr val="2A3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626864" y="1874519"/>
            <a:ext cx="68580" cy="68580"/>
          </a:xfrm>
          <a:prstGeom prst="rect">
            <a:avLst/>
          </a:prstGeom>
          <a:solidFill>
            <a:srgbClr val="C096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09744" y="178308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48A9B5"/>
                </a:solidFill>
                <a:latin typeface="Calibri"/>
              </a:rPr>
              <a:t>DEFENSE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9744" y="205740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DCD3C4"/>
                </a:solidFill>
                <a:latin typeface="Cambria"/>
              </a:rPr>
              <a:t>Himoya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9744" y="2313432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7C8B8F"/>
                </a:solidFill>
                <a:latin typeface="Calibri"/>
              </a:rPr>
              <a:t>Nuqtani ushlash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46136" y="1600200"/>
            <a:ext cx="3310128" cy="1005840"/>
          </a:xfrm>
          <a:prstGeom prst="rect">
            <a:avLst/>
          </a:prstGeom>
          <a:solidFill>
            <a:srgbClr val="161D21"/>
          </a:solidFill>
          <a:ln w="9525">
            <a:solidFill>
              <a:srgbClr val="2A3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65592" y="1874519"/>
            <a:ext cx="68580" cy="68580"/>
          </a:xfrm>
          <a:prstGeom prst="rect">
            <a:avLst/>
          </a:prstGeom>
          <a:solidFill>
            <a:srgbClr val="48A9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48471" y="178308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48A9B5"/>
                </a:solidFill>
                <a:latin typeface="Calibri"/>
              </a:rPr>
              <a:t>SURVIVAL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48471" y="205740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DCD3C4"/>
                </a:solidFill>
                <a:latin typeface="Cambria"/>
              </a:rPr>
              <a:t>Omon qolish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48471" y="2313432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7C8B8F"/>
                </a:solidFill>
                <a:latin typeface="Calibri"/>
              </a:rPr>
              <a:t>Vaqt va resurs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8680" y="2734056"/>
            <a:ext cx="3310128" cy="1005840"/>
          </a:xfrm>
          <a:prstGeom prst="rect">
            <a:avLst/>
          </a:prstGeom>
          <a:solidFill>
            <a:srgbClr val="161D21"/>
          </a:solidFill>
          <a:ln w="9525">
            <a:solidFill>
              <a:srgbClr val="2A3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088136" y="3008376"/>
            <a:ext cx="68580" cy="68580"/>
          </a:xfrm>
          <a:prstGeom prst="rect">
            <a:avLst/>
          </a:prstGeom>
          <a:solidFill>
            <a:srgbClr val="C096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271016" y="2916936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48A9B5"/>
                </a:solidFill>
                <a:latin typeface="Calibri"/>
              </a:rPr>
              <a:t>INFILTRATION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71016" y="3191256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DCD3C4"/>
                </a:solidFill>
                <a:latin typeface="Cambria"/>
              </a:rPr>
              <a:t>Kirib borish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71016" y="3447288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7C8B8F"/>
                </a:solidFill>
                <a:latin typeface="Calibri"/>
              </a:rPr>
              <a:t>Sezilmaslik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07408" y="2734056"/>
            <a:ext cx="3310128" cy="1005840"/>
          </a:xfrm>
          <a:prstGeom prst="rect">
            <a:avLst/>
          </a:prstGeom>
          <a:solidFill>
            <a:srgbClr val="161D21"/>
          </a:solidFill>
          <a:ln w="9525">
            <a:solidFill>
              <a:srgbClr val="2A3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626864" y="3008376"/>
            <a:ext cx="68580" cy="68580"/>
          </a:xfrm>
          <a:prstGeom prst="rect">
            <a:avLst/>
          </a:prstGeom>
          <a:solidFill>
            <a:srgbClr val="48A9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809744" y="2916936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48A9B5"/>
                </a:solidFill>
                <a:latin typeface="Calibri"/>
              </a:rPr>
              <a:t>CHASE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09744" y="3191256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DCD3C4"/>
                </a:solidFill>
                <a:latin typeface="Cambria"/>
              </a:rPr>
              <a:t>Quvish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09744" y="3447288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7C8B8F"/>
                </a:solidFill>
                <a:latin typeface="Calibri"/>
              </a:rPr>
              <a:t>Nuqtaga yetish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946136" y="2734056"/>
            <a:ext cx="3310128" cy="1005840"/>
          </a:xfrm>
          <a:prstGeom prst="rect">
            <a:avLst/>
          </a:prstGeom>
          <a:solidFill>
            <a:srgbClr val="161D21"/>
          </a:solidFill>
          <a:ln w="9525">
            <a:solidFill>
              <a:srgbClr val="2A3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165592" y="3008376"/>
            <a:ext cx="68580" cy="68580"/>
          </a:xfrm>
          <a:prstGeom prst="rect">
            <a:avLst/>
          </a:prstGeom>
          <a:solidFill>
            <a:srgbClr val="C096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348471" y="2916936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48A9B5"/>
                </a:solidFill>
                <a:latin typeface="Calibri"/>
              </a:rPr>
              <a:t>ESCORT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48471" y="3191256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DCD3C4"/>
                </a:solidFill>
                <a:latin typeface="Cambria"/>
              </a:rPr>
              <a:t>Kuzatib borish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48471" y="3447288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7C8B8F"/>
                </a:solidFill>
                <a:latin typeface="Calibri"/>
              </a:rPr>
              <a:t>Boshqani himoya qilish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68680" y="3867912"/>
            <a:ext cx="3310128" cy="1005840"/>
          </a:xfrm>
          <a:prstGeom prst="rect">
            <a:avLst/>
          </a:prstGeom>
          <a:solidFill>
            <a:srgbClr val="161D21"/>
          </a:solidFill>
          <a:ln w="9525">
            <a:solidFill>
              <a:srgbClr val="2A3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1088136" y="4142232"/>
            <a:ext cx="68580" cy="68580"/>
          </a:xfrm>
          <a:prstGeom prst="rect">
            <a:avLst/>
          </a:prstGeom>
          <a:solidFill>
            <a:srgbClr val="48A9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271016" y="405079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48A9B5"/>
                </a:solidFill>
                <a:latin typeface="Calibri"/>
              </a:rPr>
              <a:t>INVESTIGATION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71016" y="432511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DCD3C4"/>
                </a:solidFill>
                <a:latin typeface="Cambria"/>
              </a:rPr>
              <a:t>Tergov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71016" y="4581144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7C8B8F"/>
                </a:solidFill>
                <a:latin typeface="Calibri"/>
              </a:rPr>
              <a:t>Izlash va so'roq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407408" y="3867912"/>
            <a:ext cx="3310128" cy="1005840"/>
          </a:xfrm>
          <a:prstGeom prst="rect">
            <a:avLst/>
          </a:prstGeom>
          <a:solidFill>
            <a:srgbClr val="161D21"/>
          </a:solidFill>
          <a:ln w="9525">
            <a:solidFill>
              <a:srgbClr val="2A3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626864" y="4142232"/>
            <a:ext cx="68580" cy="68580"/>
          </a:xfrm>
          <a:prstGeom prst="rect">
            <a:avLst/>
          </a:prstGeom>
          <a:solidFill>
            <a:srgbClr val="C096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809744" y="405079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48A9B5"/>
                </a:solidFill>
                <a:latin typeface="Calibri"/>
              </a:rPr>
              <a:t>COURT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09744" y="432511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DCD3C4"/>
                </a:solidFill>
                <a:latin typeface="Cambria"/>
              </a:rPr>
              <a:t>Kurultoy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09744" y="4581144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7C8B8F"/>
                </a:solidFill>
                <a:latin typeface="Calibri"/>
              </a:rPr>
              <a:t>Muzokara va tanlov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946136" y="3867912"/>
            <a:ext cx="3310128" cy="1005840"/>
          </a:xfrm>
          <a:prstGeom prst="rect">
            <a:avLst/>
          </a:prstGeom>
          <a:solidFill>
            <a:srgbClr val="161D21"/>
          </a:solidFill>
          <a:ln w="9525">
            <a:solidFill>
              <a:srgbClr val="2A3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8165592" y="4142232"/>
            <a:ext cx="68580" cy="68580"/>
          </a:xfrm>
          <a:prstGeom prst="rect">
            <a:avLst/>
          </a:prstGeom>
          <a:solidFill>
            <a:srgbClr val="48A9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348471" y="405079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48A9B5"/>
                </a:solidFill>
                <a:latin typeface="Calibri"/>
              </a:rPr>
              <a:t>RITUAL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48471" y="432511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DCD3C4"/>
                </a:solidFill>
                <a:latin typeface="Cambria"/>
              </a:rPr>
              <a:t>Marosim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48471" y="4581144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7C8B8F"/>
                </a:solidFill>
                <a:latin typeface="Calibri"/>
              </a:rPr>
              <a:t>Sekin, ramziy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8680" y="5184648"/>
            <a:ext cx="104241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1" i="0">
                <a:solidFill>
                  <a:srgbClr val="C09660"/>
                </a:solidFill>
                <a:latin typeface="Calibri"/>
              </a:rPr>
              <a:t>Nima uchun muhim.</a:t>
            </a:r>
            <a:r>
              <a:rPr sz="1300" b="0" i="0">
                <a:solidFill>
                  <a:srgbClr val="E4EAEA"/>
                </a:solidFill>
                <a:latin typeface="Calibri"/>
              </a:rPr>
              <a:t>  episodes_v2.json da maqsadlar ro'yxati bo'sh edi. Endi maqsadlar ARXETIPDAN quriladi: DEFENSE -&gt; barcha dushmanlarni yo'q qilish + omon qolish; INFILTRATION -&gt; sezilmaslik (ixtiyoriy) + nuqtaga yetish + jang; CHASE -&gt; nuqta + N dushman. To'lqinlar soni qiyinlikdan, dushmanlar soni max_simultaneous dan olinadi.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8368" y="63550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0" i="0">
                <a:solidFill>
                  <a:srgbClr val="2A353A"/>
                </a:solidFill>
                <a:latin typeface="Calibri"/>
              </a:rPr>
              <a:t>HIKOYA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424160" y="635508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50" b="0" i="0">
                <a:solidFill>
                  <a:srgbClr val="2A353A"/>
                </a:solidFill>
                <a:latin typeface="Calibr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3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03504"/>
            <a:ext cx="91440" cy="91440"/>
          </a:xfrm>
          <a:prstGeom prst="rect">
            <a:avLst/>
          </a:prstGeom>
          <a:solidFill>
            <a:srgbClr val="48A9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475488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DCD3C4"/>
                </a:solidFill>
                <a:latin typeface="Cambria"/>
              </a:rPr>
              <a:t>O'yin oqimi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060704"/>
            <a:ext cx="10881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7C8B8F"/>
                </a:solidFill>
                <a:latin typeface="Calibri"/>
              </a:rPr>
              <a:t>Ishga tushirishdan epizod yakuniga qadar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600200"/>
            <a:ext cx="2432304" cy="1152144"/>
          </a:xfrm>
          <a:prstGeom prst="rect">
            <a:avLst/>
          </a:prstGeom>
          <a:solidFill>
            <a:srgbClr val="161D21"/>
          </a:solidFill>
          <a:ln w="9525">
            <a:solidFill>
              <a:srgbClr val="2A3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69848" y="1746504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48A9B5"/>
                </a:solidFill>
                <a:latin typeface="Cambria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" y="2020824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DCD3C4"/>
                </a:solidFill>
                <a:latin typeface="Cambria"/>
              </a:rPr>
              <a:t>Splash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2295144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 i="0">
                <a:solidFill>
                  <a:srgbClr val="7C8B8F"/>
                </a:solidFill>
                <a:latin typeface="Calibri"/>
              </a:rPr>
              <a:t>Studiya belgisi</a:t>
            </a:r>
          </a:p>
        </p:txBody>
      </p:sp>
      <p:sp>
        <p:nvSpPr>
          <p:cNvPr id="9" name="Isosceles Triangle 8"/>
          <p:cNvSpPr/>
          <p:nvPr/>
        </p:nvSpPr>
        <p:spPr>
          <a:xfrm>
            <a:off x="3374136" y="2029967"/>
            <a:ext cx="109728" cy="164592"/>
          </a:xfrm>
          <a:prstGeom prst="triangle">
            <a:avLst/>
          </a:prstGeom>
          <a:solidFill>
            <a:srgbClr val="2A3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520439" y="1600200"/>
            <a:ext cx="2432304" cy="1152144"/>
          </a:xfrm>
          <a:prstGeom prst="rect">
            <a:avLst/>
          </a:prstGeom>
          <a:solidFill>
            <a:srgbClr val="161D21"/>
          </a:solidFill>
          <a:ln w="9525">
            <a:solidFill>
              <a:srgbClr val="2A3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721607" y="1746504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48A9B5"/>
                </a:solidFill>
                <a:latin typeface="Cambria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21607" y="2020824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DCD3C4"/>
                </a:solidFill>
                <a:latin typeface="Cambria"/>
              </a:rPr>
              <a:t>Til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21607" y="2295144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 i="0">
                <a:solidFill>
                  <a:srgbClr val="7C8B8F"/>
                </a:solidFill>
                <a:latin typeface="Calibri"/>
              </a:rPr>
              <a:t>uz / tr / en</a:t>
            </a:r>
          </a:p>
        </p:txBody>
      </p:sp>
      <p:sp>
        <p:nvSpPr>
          <p:cNvPr id="14" name="Isosceles Triangle 13"/>
          <p:cNvSpPr/>
          <p:nvPr/>
        </p:nvSpPr>
        <p:spPr>
          <a:xfrm>
            <a:off x="6025896" y="2029967"/>
            <a:ext cx="109728" cy="164592"/>
          </a:xfrm>
          <a:prstGeom prst="triangle">
            <a:avLst/>
          </a:prstGeom>
          <a:solidFill>
            <a:srgbClr val="2A3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72200" y="1600200"/>
            <a:ext cx="2432304" cy="1152144"/>
          </a:xfrm>
          <a:prstGeom prst="rect">
            <a:avLst/>
          </a:prstGeom>
          <a:solidFill>
            <a:srgbClr val="161D21"/>
          </a:solidFill>
          <a:ln w="9525">
            <a:solidFill>
              <a:srgbClr val="2A3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73368" y="1746504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48A9B5"/>
                </a:solidFill>
                <a:latin typeface="Cambria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3368" y="2020824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DCD3C4"/>
                </a:solidFill>
                <a:latin typeface="Cambria"/>
              </a:rPr>
              <a:t>Bosh menyu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3368" y="2295144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 i="0">
                <a:solidFill>
                  <a:srgbClr val="7C8B8F"/>
                </a:solidFill>
                <a:latin typeface="Calibri"/>
              </a:rPr>
              <a:t>Davom etish, epizodlar, sozlamalar</a:t>
            </a:r>
          </a:p>
        </p:txBody>
      </p:sp>
      <p:sp>
        <p:nvSpPr>
          <p:cNvPr id="19" name="Isosceles Triangle 18"/>
          <p:cNvSpPr/>
          <p:nvPr/>
        </p:nvSpPr>
        <p:spPr>
          <a:xfrm>
            <a:off x="8677656" y="2029967"/>
            <a:ext cx="109728" cy="164592"/>
          </a:xfrm>
          <a:prstGeom prst="triangle">
            <a:avLst/>
          </a:prstGeom>
          <a:solidFill>
            <a:srgbClr val="2A3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823959" y="1600200"/>
            <a:ext cx="2432304" cy="1152144"/>
          </a:xfrm>
          <a:prstGeom prst="rect">
            <a:avLst/>
          </a:prstGeom>
          <a:solidFill>
            <a:srgbClr val="161D21"/>
          </a:solidFill>
          <a:ln w="9525">
            <a:solidFill>
              <a:srgbClr val="2A3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025128" y="1746504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48A9B5"/>
                </a:solidFill>
                <a:latin typeface="Cambria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25128" y="2020824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DCD3C4"/>
                </a:solidFill>
                <a:latin typeface="Cambria"/>
              </a:rPr>
              <a:t>Epizod tanlash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25128" y="2295144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 i="0">
                <a:solidFill>
                  <a:srgbClr val="7C8B8F"/>
                </a:solidFill>
                <a:latin typeface="Calibri"/>
              </a:rPr>
              <a:t>Ochilgani feruza, yopig'i so'nik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68680" y="2898648"/>
            <a:ext cx="2432304" cy="1152144"/>
          </a:xfrm>
          <a:prstGeom prst="rect">
            <a:avLst/>
          </a:prstGeom>
          <a:solidFill>
            <a:srgbClr val="161D21"/>
          </a:solidFill>
          <a:ln w="9525">
            <a:solidFill>
              <a:srgbClr val="2A3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69848" y="304495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48A9B5"/>
                </a:solidFill>
                <a:latin typeface="Cambria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9848" y="3319272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DCD3C4"/>
                </a:solidFill>
                <a:latin typeface="Cambria"/>
              </a:rPr>
              <a:t>Cutscene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9848" y="3593591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 i="0">
                <a:solidFill>
                  <a:srgbClr val="7C8B8F"/>
                </a:solidFill>
                <a:latin typeface="Calibri"/>
              </a:rPr>
              <a:t>Personajlar yuradi va gapiradi</a:t>
            </a:r>
          </a:p>
        </p:txBody>
      </p:sp>
      <p:sp>
        <p:nvSpPr>
          <p:cNvPr id="28" name="Isosceles Triangle 27"/>
          <p:cNvSpPr/>
          <p:nvPr/>
        </p:nvSpPr>
        <p:spPr>
          <a:xfrm>
            <a:off x="3374136" y="3328415"/>
            <a:ext cx="109728" cy="164592"/>
          </a:xfrm>
          <a:prstGeom prst="triangle">
            <a:avLst/>
          </a:prstGeom>
          <a:solidFill>
            <a:srgbClr val="2A3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520439" y="2898648"/>
            <a:ext cx="2432304" cy="1152144"/>
          </a:xfrm>
          <a:prstGeom prst="rect">
            <a:avLst/>
          </a:prstGeom>
          <a:solidFill>
            <a:srgbClr val="161D21"/>
          </a:solidFill>
          <a:ln w="9525">
            <a:solidFill>
              <a:srgbClr val="2A3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721607" y="304495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48A9B5"/>
                </a:solidFill>
                <a:latin typeface="Cambria"/>
              </a:rPr>
              <a:t>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21607" y="3319272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DCD3C4"/>
                </a:solidFill>
                <a:latin typeface="Cambria"/>
              </a:rPr>
              <a:t>Brifing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21607" y="3593591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 i="0">
                <a:solidFill>
                  <a:srgbClr val="7C8B8F"/>
                </a:solidFill>
                <a:latin typeface="Calibri"/>
              </a:rPr>
              <a:t>Maqsadlar ko'rsatiladi</a:t>
            </a:r>
          </a:p>
        </p:txBody>
      </p:sp>
      <p:sp>
        <p:nvSpPr>
          <p:cNvPr id="33" name="Isosceles Triangle 32"/>
          <p:cNvSpPr/>
          <p:nvPr/>
        </p:nvSpPr>
        <p:spPr>
          <a:xfrm>
            <a:off x="6025896" y="3328415"/>
            <a:ext cx="109728" cy="164592"/>
          </a:xfrm>
          <a:prstGeom prst="triangle">
            <a:avLst/>
          </a:prstGeom>
          <a:solidFill>
            <a:srgbClr val="2A3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172200" y="2898648"/>
            <a:ext cx="2432304" cy="1152144"/>
          </a:xfrm>
          <a:prstGeom prst="rect">
            <a:avLst/>
          </a:prstGeom>
          <a:solidFill>
            <a:srgbClr val="161D21"/>
          </a:solidFill>
          <a:ln w="9525">
            <a:solidFill>
              <a:srgbClr val="2A3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373368" y="304495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48A9B5"/>
                </a:solidFill>
                <a:latin typeface="Cambria"/>
              </a:rPr>
              <a:t>07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73368" y="3319272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DCD3C4"/>
                </a:solidFill>
                <a:latin typeface="Cambria"/>
              </a:rPr>
              <a:t>Jang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73368" y="3593591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 i="0">
                <a:solidFill>
                  <a:srgbClr val="7C8B8F"/>
                </a:solidFill>
                <a:latin typeface="Calibri"/>
              </a:rPr>
              <a:t>To'lqinlar, nazorat nuqtalari</a:t>
            </a:r>
          </a:p>
        </p:txBody>
      </p:sp>
      <p:sp>
        <p:nvSpPr>
          <p:cNvPr id="38" name="Isosceles Triangle 37"/>
          <p:cNvSpPr/>
          <p:nvPr/>
        </p:nvSpPr>
        <p:spPr>
          <a:xfrm>
            <a:off x="8677656" y="3328415"/>
            <a:ext cx="109728" cy="164592"/>
          </a:xfrm>
          <a:prstGeom prst="triangle">
            <a:avLst/>
          </a:prstGeom>
          <a:solidFill>
            <a:srgbClr val="2A3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8823959" y="2898648"/>
            <a:ext cx="2432304" cy="1152144"/>
          </a:xfrm>
          <a:prstGeom prst="rect">
            <a:avLst/>
          </a:prstGeom>
          <a:solidFill>
            <a:srgbClr val="161D21"/>
          </a:solidFill>
          <a:ln w="9525">
            <a:solidFill>
              <a:srgbClr val="2A3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025128" y="304495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48A9B5"/>
                </a:solidFill>
                <a:latin typeface="Cambria"/>
              </a:rPr>
              <a:t>08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25128" y="3319272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DCD3C4"/>
                </a:solidFill>
                <a:latin typeface="Cambria"/>
              </a:rPr>
              <a:t>Natija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25128" y="3593591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 i="0">
                <a:solidFill>
                  <a:srgbClr val="7C8B8F"/>
                </a:solidFill>
                <a:latin typeface="Calibri"/>
              </a:rPr>
              <a:t>Bajarildi yoki halok bo'ldingiz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27531" y="4347972"/>
            <a:ext cx="3392424" cy="2048512"/>
          </a:xfrm>
          <a:prstGeom prst="rect">
            <a:avLst/>
          </a:prstGeom>
          <a:noFill/>
          <a:ln w="12700">
            <a:solidFill>
              <a:srgbClr val="2A3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44" name="Picture 43" descr="03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4389120"/>
            <a:ext cx="3310128" cy="1965388"/>
          </a:xfrm>
          <a:prstGeom prst="rect">
            <a:avLst/>
          </a:prstGeom>
        </p:spPr>
      </p:pic>
      <p:sp>
        <p:nvSpPr>
          <p:cNvPr id="45" name="Rectangle 44"/>
          <p:cNvSpPr/>
          <p:nvPr/>
        </p:nvSpPr>
        <p:spPr>
          <a:xfrm>
            <a:off x="4384548" y="4347972"/>
            <a:ext cx="3392424" cy="2048512"/>
          </a:xfrm>
          <a:prstGeom prst="rect">
            <a:avLst/>
          </a:prstGeom>
          <a:noFill/>
          <a:ln w="12700">
            <a:solidFill>
              <a:srgbClr val="2A3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46" name="Picture 45" descr="04_episod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5696" y="4389120"/>
            <a:ext cx="3310128" cy="1965388"/>
          </a:xfrm>
          <a:prstGeom prst="rect">
            <a:avLst/>
          </a:prstGeom>
        </p:spPr>
      </p:pic>
      <p:sp>
        <p:nvSpPr>
          <p:cNvPr id="47" name="Rectangle 46"/>
          <p:cNvSpPr/>
          <p:nvPr/>
        </p:nvSpPr>
        <p:spPr>
          <a:xfrm>
            <a:off x="7941564" y="4347972"/>
            <a:ext cx="3392424" cy="2048512"/>
          </a:xfrm>
          <a:prstGeom prst="rect">
            <a:avLst/>
          </a:prstGeom>
          <a:noFill/>
          <a:ln w="12700">
            <a:solidFill>
              <a:srgbClr val="2A3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48" name="Picture 47" descr="42_brief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2712" y="4389120"/>
            <a:ext cx="3310128" cy="1965388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658368" y="63550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0" i="0">
                <a:solidFill>
                  <a:srgbClr val="2A353A"/>
                </a:solidFill>
                <a:latin typeface="Calibri"/>
              </a:rPr>
              <a:t>OQIM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424160" y="635508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50" b="0" i="0">
                <a:solidFill>
                  <a:srgbClr val="2A353A"/>
                </a:solidFill>
                <a:latin typeface="Calibr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3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03504"/>
            <a:ext cx="91440" cy="91440"/>
          </a:xfrm>
          <a:prstGeom prst="rect">
            <a:avLst/>
          </a:prstGeom>
          <a:solidFill>
            <a:srgbClr val="48A9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475488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DCD3C4"/>
                </a:solidFill>
                <a:latin typeface="Cambria"/>
              </a:rPr>
              <a:t>Harakat: masofaga bog'langan qadam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060704"/>
            <a:ext cx="10881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7C8B8F"/>
                </a:solidFill>
                <a:latin typeface="Calibri"/>
              </a:rPr>
              <a:t>Tizimning eng nozik qismi — va eng katta tuzatish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600200"/>
            <a:ext cx="59436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1400" b="0" i="0">
                <a:solidFill>
                  <a:srgbClr val="E4EAEA"/>
                </a:solidFill>
                <a:latin typeface="Calibri"/>
              </a:rPr>
              <a:t>Odatdagi protsedural yurishda qadam fazasi VAQTdan olinadi. Natijada tezlik o'zgarganda oyoq yerdan sirg'aladi. Bizda faza bosib o'tilgan MASOFAdan integrallanadi, tayanch fazasida panja esa dunyoda qotadi — oyoq burchaklari analitik IK bilan hisoblanadi.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3017520"/>
            <a:ext cx="5943600" cy="658368"/>
          </a:xfrm>
          <a:prstGeom prst="rect">
            <a:avLst/>
          </a:prstGeom>
          <a:solidFill>
            <a:srgbClr val="161D21"/>
          </a:solidFill>
          <a:ln w="9525">
            <a:solidFill>
              <a:srgbClr val="2A3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8992" y="3172968"/>
            <a:ext cx="5577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C09660"/>
                </a:solidFill>
                <a:latin typeface="Consolas"/>
              </a:rPr>
              <a:t>S(v) = 0.97 + 0.35 x v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48A9B5"/>
                </a:solidFill>
                <a:latin typeface="Consolas"/>
              </a:rPr>
              <a:t>faza += bosibOtilganMasofa / S(v)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3931920"/>
            <a:ext cx="7040880" cy="329184"/>
          </a:xfrm>
          <a:prstGeom prst="rect">
            <a:avLst/>
          </a:prstGeom>
          <a:solidFill>
            <a:srgbClr val="1B2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4014215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 i="0">
                <a:solidFill>
                  <a:srgbClr val="7C8B8F"/>
                </a:solidFill>
                <a:latin typeface="Calibri"/>
              </a:rPr>
              <a:t>Tezlik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4014215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050" b="1" i="0">
                <a:solidFill>
                  <a:srgbClr val="7C8B8F"/>
                </a:solidFill>
                <a:latin typeface="Calibri"/>
              </a:rPr>
              <a:t>Ilgari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4014215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050" b="1" i="0">
                <a:solidFill>
                  <a:srgbClr val="7C8B8F"/>
                </a:solidFill>
                <a:latin typeface="Calibri"/>
              </a:rPr>
              <a:t>Endi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32120" y="4014215"/>
            <a:ext cx="1325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050" b="1" i="0">
                <a:solidFill>
                  <a:srgbClr val="7C8B8F"/>
                </a:solidFill>
                <a:latin typeface="Calibri"/>
              </a:rPr>
              <a:t>Real odam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03720" y="4014215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050" b="1" i="0">
                <a:solidFill>
                  <a:srgbClr val="7C8B8F"/>
                </a:solidFill>
                <a:latin typeface="Calibri"/>
              </a:rPr>
              <a:t>SLIP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398264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E4EAEA"/>
                </a:solidFill>
                <a:latin typeface="Calibri"/>
              </a:rPr>
              <a:t>Yurish 1.35 m/s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4398264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BC5A44"/>
                </a:solidFill>
                <a:latin typeface="Calibri"/>
              </a:rPr>
              <a:t>4.6 qadam/s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4398264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 i="0">
                <a:solidFill>
                  <a:srgbClr val="C09660"/>
                </a:solidFill>
                <a:latin typeface="Calibri"/>
              </a:rPr>
              <a:t>1.87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32120" y="4398264"/>
            <a:ext cx="1325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DCD3C4"/>
                </a:solidFill>
                <a:latin typeface="Calibri"/>
              </a:rPr>
              <a:t>1.85-1.90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03720" y="4398264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 i="0">
                <a:solidFill>
                  <a:srgbClr val="C09660"/>
                </a:solidFill>
                <a:latin typeface="Calibri"/>
              </a:rPr>
              <a:t>0.0%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782312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E4EAEA"/>
                </a:solidFill>
                <a:latin typeface="Calibri"/>
              </a:rPr>
              <a:t>Yugurish 3.30 m/s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478231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BC5A44"/>
                </a:solidFill>
                <a:latin typeface="Calibri"/>
              </a:rPr>
              <a:t>4.6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4782312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 i="0">
                <a:solidFill>
                  <a:srgbClr val="C09660"/>
                </a:solidFill>
                <a:latin typeface="Calibri"/>
              </a:rPr>
              <a:t>3.11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32120" y="4782312"/>
            <a:ext cx="1325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DCD3C4"/>
                </a:solidFill>
                <a:latin typeface="Calibri"/>
              </a:rPr>
              <a:t>3.0-3.2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03720" y="4782312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 i="0">
                <a:solidFill>
                  <a:srgbClr val="C09660"/>
                </a:solidFill>
                <a:latin typeface="Calibri"/>
              </a:rPr>
              <a:t>0.0%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5166359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E4EAEA"/>
                </a:solidFill>
                <a:latin typeface="Calibri"/>
              </a:rPr>
              <a:t>Sprint 6.40 m/s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17520" y="5166359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BC5A44"/>
                </a:solidFill>
                <a:latin typeface="Calibri"/>
              </a:rPr>
              <a:t>8.8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34840" y="5166359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 i="0">
                <a:solidFill>
                  <a:srgbClr val="C09660"/>
                </a:solidFill>
                <a:latin typeface="Calibri"/>
              </a:rPr>
              <a:t>3.99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32120" y="5166359"/>
            <a:ext cx="1325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DCD3C4"/>
                </a:solidFill>
                <a:latin typeface="Calibri"/>
              </a:rPr>
              <a:t>3.9-4.2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5166359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 i="0">
                <a:solidFill>
                  <a:srgbClr val="C09660"/>
                </a:solidFill>
                <a:latin typeface="Calibri"/>
              </a:rPr>
              <a:t>0.0%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5577840"/>
            <a:ext cx="70408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 b="0" i="0">
                <a:solidFill>
                  <a:srgbClr val="7C8B8F"/>
                </a:solidFill>
                <a:latin typeface="Calibri"/>
              </a:rPr>
              <a:t>Tezlik endi VEKTOR: yo'nalish bir kadrda o'zgarmaydi. Burilish tezligi fizikadan cheklanadi (a_lat &lt;= 12 m/s^2) — sprintda 110 grad/s, yurishda 509.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34172" y="1604772"/>
            <a:ext cx="3099815" cy="1874702"/>
          </a:xfrm>
          <a:prstGeom prst="rect">
            <a:avLst/>
          </a:prstGeom>
          <a:noFill/>
          <a:ln w="12700">
            <a:solidFill>
              <a:srgbClr val="2A3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1" name="Picture 30" descr="63_spri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645920"/>
            <a:ext cx="3017520" cy="1791652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8234172" y="3479292"/>
            <a:ext cx="3099815" cy="1874702"/>
          </a:xfrm>
          <a:prstGeom prst="rect">
            <a:avLst/>
          </a:prstGeom>
          <a:noFill/>
          <a:ln w="12700">
            <a:solidFill>
              <a:srgbClr val="2A3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3" name="Picture 32" descr="69_arc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320" y="3520440"/>
            <a:ext cx="3017520" cy="1791652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8275320" y="5303520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2A353A"/>
                </a:solidFill>
                <a:latin typeface="Calibri"/>
              </a:rPr>
              <a:t>Sprint va burilish yoyi (tana egilgan)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3550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0" i="0">
                <a:solidFill>
                  <a:srgbClr val="2A353A"/>
                </a:solidFill>
                <a:latin typeface="Calibri"/>
              </a:rPr>
              <a:t>MEXANIKA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424160" y="635508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50" b="0" i="0">
                <a:solidFill>
                  <a:srgbClr val="2A353A"/>
                </a:solidFill>
                <a:latin typeface="Calibr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3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03504"/>
            <a:ext cx="91440" cy="91440"/>
          </a:xfrm>
          <a:prstGeom prst="rect">
            <a:avLst/>
          </a:prstGeom>
          <a:solidFill>
            <a:srgbClr val="48A9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475488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DCD3C4"/>
                </a:solidFill>
                <a:latin typeface="Cambria"/>
              </a:rPr>
              <a:t>Parkur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060704"/>
            <a:ext cx="10881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7C8B8F"/>
                </a:solidFill>
                <a:latin typeface="Calibri"/>
              </a:rPr>
              <a:t>Assassin's Creed uslubidagi past va yuqori profil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682496"/>
            <a:ext cx="68580" cy="68580"/>
          </a:xfrm>
          <a:prstGeom prst="rect">
            <a:avLst/>
          </a:prstGeom>
          <a:solidFill>
            <a:srgbClr val="48A9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69848" y="1600200"/>
            <a:ext cx="5833872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 i="0">
                <a:solidFill>
                  <a:srgbClr val="C09660"/>
                </a:solidFill>
                <a:latin typeface="Calibri"/>
              </a:rPr>
              <a:t>Past profil.  </a:t>
            </a:r>
            <a:r>
              <a:rPr sz="1350" b="0" i="0">
                <a:solidFill>
                  <a:srgbClr val="E4EAEA"/>
                </a:solidFill>
                <a:latin typeface="Calibri"/>
              </a:rPr>
              <a:t>Yurish, cho'kkalash, olomonga singish. Shovqin deyarli yo'q.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2249424"/>
            <a:ext cx="68580" cy="68580"/>
          </a:xfrm>
          <a:prstGeom prst="rect">
            <a:avLst/>
          </a:prstGeom>
          <a:solidFill>
            <a:srgbClr val="48A9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69848" y="2167128"/>
            <a:ext cx="5833872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 i="0">
                <a:solidFill>
                  <a:srgbClr val="C09660"/>
                </a:solidFill>
                <a:latin typeface="Calibri"/>
              </a:rPr>
              <a:t>Yuqori profil.  </a:t>
            </a:r>
            <a:r>
              <a:rPr sz="1350" b="0" i="0">
                <a:solidFill>
                  <a:srgbClr val="E4EAEA"/>
                </a:solidFill>
                <a:latin typeface="Calibri"/>
              </a:rPr>
              <a:t>Shift — yugurish va erkin yurish. To'siqlar avtomatik o'tiladi.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2816352"/>
            <a:ext cx="68580" cy="68580"/>
          </a:xfrm>
          <a:prstGeom prst="rect">
            <a:avLst/>
          </a:prstGeom>
          <a:solidFill>
            <a:srgbClr val="48A9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69848" y="2734056"/>
            <a:ext cx="5833872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 i="0">
                <a:solidFill>
                  <a:srgbClr val="C09660"/>
                </a:solidFill>
                <a:latin typeface="Calibri"/>
              </a:rPr>
              <a:t>Zond fizikasi.  </a:t>
            </a:r>
            <a:r>
              <a:rPr sz="1350" b="0" i="0">
                <a:solidFill>
                  <a:srgbClr val="E4EAEA"/>
                </a:solidFill>
                <a:latin typeface="Calibri"/>
              </a:rPr>
              <a:t>probeVault, probeLedge, probeWall, mantleClear, supportBelow, platformAbove — oldindagi geometriya nur bilan tekshiriladi.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" y="3383280"/>
            <a:ext cx="68580" cy="68580"/>
          </a:xfrm>
          <a:prstGeom prst="rect">
            <a:avLst/>
          </a:prstGeom>
          <a:solidFill>
            <a:srgbClr val="48A9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69848" y="3300984"/>
            <a:ext cx="5833872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 i="0">
                <a:solidFill>
                  <a:srgbClr val="C09660"/>
                </a:solidFill>
                <a:latin typeface="Calibri"/>
              </a:rPr>
              <a:t>31 ta holat.  </a:t>
            </a:r>
            <a:r>
              <a:rPr sz="1350" b="0" i="0">
                <a:solidFill>
                  <a:srgbClr val="E4EAEA"/>
                </a:solidFill>
                <a:latin typeface="Calibri"/>
              </a:rPr>
              <a:t>Vault, Mantle, Climb, Hang, Shimmy, Eject, Slide, RollLand, WallRun, Dodge, LeapOfFaith va boshqalar.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" y="3950208"/>
            <a:ext cx="68580" cy="68580"/>
          </a:xfrm>
          <a:prstGeom prst="rect">
            <a:avLst/>
          </a:prstGeom>
          <a:solidFill>
            <a:srgbClr val="48A9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69848" y="3867912"/>
            <a:ext cx="5833872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 i="0">
                <a:solidFill>
                  <a:srgbClr val="C09660"/>
                </a:solidFill>
                <a:latin typeface="Calibri"/>
              </a:rPr>
              <a:t>Bilge Ko'z.  </a:t>
            </a:r>
            <a:r>
              <a:rPr sz="1350" b="0" i="0">
                <a:solidFill>
                  <a:srgbClr val="E4EAEA"/>
                </a:solidFill>
                <a:latin typeface="Calibri"/>
              </a:rPr>
              <a:t>H tugmasi — dunyo so'nadi, parkur geometriyasi yonadi.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36892" y="1604772"/>
            <a:ext cx="4197096" cy="2526487"/>
          </a:xfrm>
          <a:prstGeom prst="rect">
            <a:avLst/>
          </a:prstGeom>
          <a:noFill/>
          <a:ln w="12700">
            <a:solidFill>
              <a:srgbClr val="2A3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6" name="Picture 15" descr="60_id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1645920"/>
            <a:ext cx="4114800" cy="2443162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7136892" y="4165091"/>
            <a:ext cx="4197096" cy="2526487"/>
          </a:xfrm>
          <a:prstGeom prst="rect">
            <a:avLst/>
          </a:prstGeom>
          <a:noFill/>
          <a:ln w="12700">
            <a:solidFill>
              <a:srgbClr val="2A3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8" name="Picture 17" descr="75_crou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4206240"/>
            <a:ext cx="4114800" cy="244316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58368" y="63550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0" i="0">
                <a:solidFill>
                  <a:srgbClr val="2A353A"/>
                </a:solidFill>
                <a:latin typeface="Calibri"/>
              </a:rPr>
              <a:t>MEXANIKA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24160" y="635508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50" b="0" i="0">
                <a:solidFill>
                  <a:srgbClr val="2A353A"/>
                </a:solidFill>
                <a:latin typeface="Calibr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3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03504"/>
            <a:ext cx="91440" cy="91440"/>
          </a:xfrm>
          <a:prstGeom prst="rect">
            <a:avLst/>
          </a:prstGeom>
          <a:solidFill>
            <a:srgbClr val="48A9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475488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DCD3C4"/>
                </a:solidFill>
                <a:latin typeface="Cambria"/>
              </a:rPr>
              <a:t>Jang: uch resurs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060704"/>
            <a:ext cx="10881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7C8B8F"/>
                </a:solidFill>
                <a:latin typeface="Calibri"/>
              </a:rPr>
              <a:t>GDD: jang og'ir va jazolovchi. Uch kishi o'ldirishi mumkin.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600200"/>
            <a:ext cx="2432304" cy="1417320"/>
          </a:xfrm>
          <a:prstGeom prst="rect">
            <a:avLst/>
          </a:prstGeom>
          <a:solidFill>
            <a:srgbClr val="161D21"/>
          </a:solidFill>
          <a:ln w="9525">
            <a:solidFill>
              <a:srgbClr val="2A3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69848" y="1874519"/>
            <a:ext cx="2011680" cy="91440"/>
          </a:xfrm>
          <a:prstGeom prst="rect">
            <a:avLst/>
          </a:prstGeom>
          <a:solidFill>
            <a:srgbClr val="BC5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69848" y="2075688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BC5A44"/>
                </a:solidFill>
                <a:latin typeface="Cambria"/>
              </a:rPr>
              <a:t>Sog'liq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2368296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0" i="0">
                <a:solidFill>
                  <a:srgbClr val="E4EAEA"/>
                </a:solidFill>
                <a:latin typeface="Calibri"/>
              </a:rPr>
              <a:t>Zarba zarari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" y="2642615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 i="0">
                <a:solidFill>
                  <a:srgbClr val="7C8B8F"/>
                </a:solidFill>
                <a:latin typeface="Calibri"/>
              </a:rPr>
              <a:t>0 -&gt; o'lim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20439" y="1600200"/>
            <a:ext cx="2432304" cy="1417320"/>
          </a:xfrm>
          <a:prstGeom prst="rect">
            <a:avLst/>
          </a:prstGeom>
          <a:solidFill>
            <a:srgbClr val="161D21"/>
          </a:solidFill>
          <a:ln w="9525">
            <a:solidFill>
              <a:srgbClr val="2A3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721607" y="1874519"/>
            <a:ext cx="2011680" cy="91440"/>
          </a:xfrm>
          <a:prstGeom prst="rect">
            <a:avLst/>
          </a:prstGeom>
          <a:solidFill>
            <a:srgbClr val="DCD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721607" y="2075688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DCD3C4"/>
                </a:solidFill>
                <a:latin typeface="Cambria"/>
              </a:rPr>
              <a:t>Nafas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21607" y="2368296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0" i="0">
                <a:solidFill>
                  <a:srgbClr val="E4EAEA"/>
                </a:solidFill>
                <a:latin typeface="Calibri"/>
              </a:rPr>
              <a:t>Har harakat sarflaydi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21607" y="2642615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 i="0">
                <a:solidFill>
                  <a:srgbClr val="7C8B8F"/>
                </a:solidFill>
                <a:latin typeface="Calibri"/>
              </a:rPr>
              <a:t>0 -&gt; hujum yo'q, blok buziladi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1600200"/>
            <a:ext cx="2432304" cy="1417320"/>
          </a:xfrm>
          <a:prstGeom prst="rect">
            <a:avLst/>
          </a:prstGeom>
          <a:solidFill>
            <a:srgbClr val="161D21"/>
          </a:solidFill>
          <a:ln w="9525">
            <a:solidFill>
              <a:srgbClr val="2A3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373368" y="1874519"/>
            <a:ext cx="2011680" cy="91440"/>
          </a:xfrm>
          <a:prstGeom prst="rect">
            <a:avLst/>
          </a:prstGeom>
          <a:solidFill>
            <a:srgbClr val="C096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73368" y="2075688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C09660"/>
                </a:solidFill>
                <a:latin typeface="Cambria"/>
              </a:rPr>
              <a:t>Poza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3368" y="2368296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0" i="0">
                <a:solidFill>
                  <a:srgbClr val="E4EAEA"/>
                </a:solidFill>
                <a:latin typeface="Calibri"/>
              </a:rPr>
              <a:t>Zarba va blok to'playdi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3368" y="2642615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 i="0">
                <a:solidFill>
                  <a:srgbClr val="7C8B8F"/>
                </a:solidFill>
                <a:latin typeface="Calibri"/>
              </a:rPr>
              <a:t>100 -&gt; muvozanat buziladi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823959" y="1600200"/>
            <a:ext cx="2432304" cy="1417320"/>
          </a:xfrm>
          <a:prstGeom prst="rect">
            <a:avLst/>
          </a:prstGeom>
          <a:solidFill>
            <a:srgbClr val="161D21"/>
          </a:solidFill>
          <a:ln w="9525">
            <a:solidFill>
              <a:srgbClr val="2A3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025128" y="1874519"/>
            <a:ext cx="2011680" cy="91440"/>
          </a:xfrm>
          <a:prstGeom prst="rect">
            <a:avLst/>
          </a:prstGeom>
          <a:solidFill>
            <a:srgbClr val="48A9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025128" y="2075688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48A9B5"/>
                </a:solidFill>
                <a:latin typeface="Cambria"/>
              </a:rPr>
              <a:t>Qo'l (Mix)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25128" y="2368296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0" i="0">
                <a:solidFill>
                  <a:srgbClr val="E4EAEA"/>
                </a:solidFill>
                <a:latin typeface="Calibri"/>
              </a:rPr>
              <a:t>Og'ir zarba va parry yeydi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25128" y="2642615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 i="0">
                <a:solidFill>
                  <a:srgbClr val="7C8B8F"/>
                </a:solidFill>
                <a:latin typeface="Calibri"/>
              </a:rPr>
              <a:t>parry oynasi 180 -&gt; 110 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3246120"/>
            <a:ext cx="6035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DCD3C4"/>
                </a:solidFill>
                <a:latin typeface="Cambria"/>
              </a:rPr>
              <a:t>Harakatlar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68680" y="3712464"/>
            <a:ext cx="68580" cy="68580"/>
          </a:xfrm>
          <a:prstGeom prst="rect">
            <a:avLst/>
          </a:prstGeom>
          <a:solidFill>
            <a:srgbClr val="48A9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69848" y="3630168"/>
            <a:ext cx="5833872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 i="0">
                <a:solidFill>
                  <a:srgbClr val="C09660"/>
                </a:solidFill>
                <a:latin typeface="Calibri"/>
              </a:rPr>
              <a:t>Yengil zarba.  </a:t>
            </a:r>
            <a:r>
              <a:rPr sz="1300" b="0" i="0">
                <a:solidFill>
                  <a:srgbClr val="E4EAEA"/>
                </a:solidFill>
                <a:latin typeface="Calibri"/>
              </a:rPr>
              <a:t>Uch zarbali kombo.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68680" y="4151376"/>
            <a:ext cx="68580" cy="68580"/>
          </a:xfrm>
          <a:prstGeom prst="rect">
            <a:avLst/>
          </a:prstGeom>
          <a:solidFill>
            <a:srgbClr val="48A9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69848" y="4069080"/>
            <a:ext cx="5833872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 i="0">
                <a:solidFill>
                  <a:srgbClr val="C09660"/>
                </a:solidFill>
                <a:latin typeface="Calibri"/>
              </a:rPr>
              <a:t>Og'ir zarba.  </a:t>
            </a:r>
            <a:r>
              <a:rPr sz="1300" b="0" i="0">
                <a:solidFill>
                  <a:srgbClr val="E4EAEA"/>
                </a:solidFill>
                <a:latin typeface="Calibri"/>
              </a:rPr>
              <a:t>Shift + Mouse 1 — o'z pozangizni ham buzadi.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68680" y="4590288"/>
            <a:ext cx="68580" cy="68580"/>
          </a:xfrm>
          <a:prstGeom prst="rect">
            <a:avLst/>
          </a:prstGeom>
          <a:solidFill>
            <a:srgbClr val="48A9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69848" y="4507992"/>
            <a:ext cx="5833872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 i="0">
                <a:solidFill>
                  <a:srgbClr val="C09660"/>
                </a:solidFill>
                <a:latin typeface="Calibri"/>
              </a:rPr>
              <a:t>Parry.  </a:t>
            </a:r>
            <a:r>
              <a:rPr sz="1300" b="0" i="0">
                <a:solidFill>
                  <a:srgbClr val="E4EAEA"/>
                </a:solidFill>
                <a:latin typeface="Calibri"/>
              </a:rPr>
              <a:t>Mouse 2 bosish, 180 ms oyna. Raqib pozasiga +35 — jangning yuragi.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68680" y="5029200"/>
            <a:ext cx="68580" cy="68580"/>
          </a:xfrm>
          <a:prstGeom prst="rect">
            <a:avLst/>
          </a:prstGeom>
          <a:solidFill>
            <a:srgbClr val="48A9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69848" y="4946904"/>
            <a:ext cx="5833872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 i="0">
                <a:solidFill>
                  <a:srgbClr val="C09660"/>
                </a:solidFill>
                <a:latin typeface="Calibri"/>
              </a:rPr>
              <a:t>Tepish.  </a:t>
            </a:r>
            <a:r>
              <a:rPr sz="1300" b="0" i="0">
                <a:solidFill>
                  <a:srgbClr val="E4EAEA"/>
                </a:solidFill>
                <a:latin typeface="Calibri"/>
              </a:rPr>
              <a:t>R — qalqonni ochadi. Blok qilib bo'lmaydi.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68680" y="5468112"/>
            <a:ext cx="68580" cy="68580"/>
          </a:xfrm>
          <a:prstGeom prst="rect">
            <a:avLst/>
          </a:prstGeom>
          <a:solidFill>
            <a:srgbClr val="48A9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69848" y="5385816"/>
            <a:ext cx="5833872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 i="0">
                <a:solidFill>
                  <a:srgbClr val="C09660"/>
                </a:solidFill>
                <a:latin typeface="Calibri"/>
              </a:rPr>
              <a:t>Yakunlovchi zarba.  </a:t>
            </a:r>
            <a:r>
              <a:rPr sz="1300" b="0" i="0">
                <a:solidFill>
                  <a:srgbClr val="E4EAEA"/>
                </a:solidFill>
                <a:latin typeface="Calibri"/>
              </a:rPr>
              <a:t>Muvozanati buzilgan raqibga — qat'iy o'lim.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136892" y="3250692"/>
            <a:ext cx="4197096" cy="2526487"/>
          </a:xfrm>
          <a:prstGeom prst="rect">
            <a:avLst/>
          </a:prstGeom>
          <a:noFill/>
          <a:ln w="12700">
            <a:solidFill>
              <a:srgbClr val="2A3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7" name="Picture 36" descr="46_fight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3291840"/>
            <a:ext cx="4114800" cy="2443162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658368" y="63550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0" i="0">
                <a:solidFill>
                  <a:srgbClr val="2A353A"/>
                </a:solidFill>
                <a:latin typeface="Calibri"/>
              </a:rPr>
              <a:t>JANG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424160" y="635508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50" b="0" i="0">
                <a:solidFill>
                  <a:srgbClr val="2A353A"/>
                </a:solidFill>
                <a:latin typeface="Calibr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3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03504"/>
            <a:ext cx="91440" cy="91440"/>
          </a:xfrm>
          <a:prstGeom prst="rect">
            <a:avLst/>
          </a:prstGeom>
          <a:solidFill>
            <a:srgbClr val="48A9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475488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DCD3C4"/>
                </a:solidFill>
                <a:latin typeface="Cambria"/>
              </a:rPr>
              <a:t>Dushmanlar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060704"/>
            <a:ext cx="10881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7C8B8F"/>
                </a:solidFill>
                <a:latin typeface="Calibri"/>
              </a:rPr>
              <a:t>Olti tur — har biri boshqacha yechim talab qiladi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600200"/>
            <a:ext cx="3310128" cy="1170432"/>
          </a:xfrm>
          <a:prstGeom prst="rect">
            <a:avLst/>
          </a:prstGeom>
          <a:solidFill>
            <a:srgbClr val="161D21"/>
          </a:solidFill>
          <a:ln w="9525">
            <a:solidFill>
              <a:srgbClr val="2A3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88136" y="1856232"/>
            <a:ext cx="68580" cy="68580"/>
          </a:xfrm>
          <a:prstGeom prst="rect">
            <a:avLst/>
          </a:prstGeom>
          <a:solidFill>
            <a:srgbClr val="BC5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71016" y="176479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DCD3C4"/>
                </a:solidFill>
                <a:latin typeface="Cambria"/>
              </a:rPr>
              <a:t>Footman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71016" y="2057400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48A9B5"/>
                </a:solidFill>
                <a:latin typeface="Calibri"/>
              </a:rPr>
              <a:t>Oddiy piyoda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" y="2331720"/>
            <a:ext cx="2880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00" b="0" i="0">
                <a:solidFill>
                  <a:srgbClr val="E4EAEA"/>
                </a:solidFill>
                <a:latin typeface="Calibri"/>
              </a:rPr>
              <a:t>Asosiy kuch. Yengil zarba bilan yechiladi.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07408" y="1600200"/>
            <a:ext cx="3310128" cy="1170432"/>
          </a:xfrm>
          <a:prstGeom prst="rect">
            <a:avLst/>
          </a:prstGeom>
          <a:solidFill>
            <a:srgbClr val="161D21"/>
          </a:solidFill>
          <a:ln w="9525">
            <a:solidFill>
              <a:srgbClr val="2A3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626864" y="1856232"/>
            <a:ext cx="68580" cy="68580"/>
          </a:xfrm>
          <a:prstGeom prst="rect">
            <a:avLst/>
          </a:prstGeom>
          <a:solidFill>
            <a:srgbClr val="BC5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09744" y="176479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DCD3C4"/>
                </a:solidFill>
                <a:latin typeface="Cambria"/>
              </a:rPr>
              <a:t>Sergeant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9744" y="2057400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48A9B5"/>
                </a:solidFill>
                <a:latin typeface="Calibri"/>
              </a:rPr>
              <a:t>Qalqonli serjant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6864" y="2331720"/>
            <a:ext cx="2880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00" b="0" i="0">
                <a:solidFill>
                  <a:srgbClr val="E4EAEA"/>
                </a:solidFill>
                <a:latin typeface="Calibri"/>
              </a:rPr>
              <a:t>Bloki kuchli — tepish kerak. O'q oldindan o'tmaydi.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46136" y="1600200"/>
            <a:ext cx="3310128" cy="1170432"/>
          </a:xfrm>
          <a:prstGeom prst="rect">
            <a:avLst/>
          </a:prstGeom>
          <a:solidFill>
            <a:srgbClr val="161D21"/>
          </a:solidFill>
          <a:ln w="9525">
            <a:solidFill>
              <a:srgbClr val="2A3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65592" y="1856232"/>
            <a:ext cx="68580" cy="68580"/>
          </a:xfrm>
          <a:prstGeom prst="rect">
            <a:avLst/>
          </a:prstGeom>
          <a:solidFill>
            <a:srgbClr val="BC5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48471" y="176479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DCD3C4"/>
                </a:solidFill>
                <a:latin typeface="Cambria"/>
              </a:rPr>
              <a:t>Crossbow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48471" y="2057400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48A9B5"/>
                </a:solidFill>
                <a:latin typeface="Calibri"/>
              </a:rPr>
              <a:t>Arbaletchi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65592" y="2331720"/>
            <a:ext cx="2880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00" b="0" i="0">
                <a:solidFill>
                  <a:srgbClr val="E4EAEA"/>
                </a:solidFill>
                <a:latin typeface="Calibri"/>
              </a:rPr>
              <a:t>Uzoqdan otadi, yaqinda zaif. Birinchi yo'q qiling.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8680" y="2898648"/>
            <a:ext cx="3310128" cy="1170432"/>
          </a:xfrm>
          <a:prstGeom prst="rect">
            <a:avLst/>
          </a:prstGeom>
          <a:solidFill>
            <a:srgbClr val="161D21"/>
          </a:solidFill>
          <a:ln w="9525">
            <a:solidFill>
              <a:srgbClr val="2A3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088136" y="3154680"/>
            <a:ext cx="68580" cy="68580"/>
          </a:xfrm>
          <a:prstGeom prst="rect">
            <a:avLst/>
          </a:prstGeom>
          <a:solidFill>
            <a:srgbClr val="BC5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271016" y="306324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DCD3C4"/>
                </a:solidFill>
                <a:latin typeface="Cambria"/>
              </a:rPr>
              <a:t>Assassin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71016" y="3355848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48A9B5"/>
                </a:solidFill>
                <a:latin typeface="Calibri"/>
              </a:rPr>
              <a:t>Saroy qotili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8136" y="3630168"/>
            <a:ext cx="2880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00" b="0" i="0">
                <a:solidFill>
                  <a:srgbClr val="E4EAEA"/>
                </a:solidFill>
                <a:latin typeface="Calibri"/>
              </a:rPr>
              <a:t>Tez, kam sog'liq. Parry qilish qiyin.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07408" y="2898648"/>
            <a:ext cx="3310128" cy="1170432"/>
          </a:xfrm>
          <a:prstGeom prst="rect">
            <a:avLst/>
          </a:prstGeom>
          <a:solidFill>
            <a:srgbClr val="161D21"/>
          </a:solidFill>
          <a:ln w="9525">
            <a:solidFill>
              <a:srgbClr val="2A3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626864" y="3154680"/>
            <a:ext cx="68580" cy="68580"/>
          </a:xfrm>
          <a:prstGeom prst="rect">
            <a:avLst/>
          </a:prstGeom>
          <a:solidFill>
            <a:srgbClr val="BC5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809744" y="306324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DCD3C4"/>
                </a:solidFill>
                <a:latin typeface="Cambria"/>
              </a:rPr>
              <a:t>HorseArcher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09744" y="3355848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48A9B5"/>
                </a:solidFill>
                <a:latin typeface="Calibri"/>
              </a:rPr>
              <a:t>Mo'g'ul otliq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26864" y="3630168"/>
            <a:ext cx="2880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00" b="0" i="0">
                <a:solidFill>
                  <a:srgbClr val="E4EAEA"/>
                </a:solidFill>
                <a:latin typeface="Calibri"/>
              </a:rPr>
              <a:t>S3+ da paydo bo'ladi. To'xtatib bo'lmaydi.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946136" y="2898648"/>
            <a:ext cx="3310128" cy="1170432"/>
          </a:xfrm>
          <a:prstGeom prst="rect">
            <a:avLst/>
          </a:prstGeom>
          <a:solidFill>
            <a:srgbClr val="161D21"/>
          </a:solidFill>
          <a:ln w="9525">
            <a:solidFill>
              <a:srgbClr val="2A3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165592" y="3154680"/>
            <a:ext cx="68580" cy="68580"/>
          </a:xfrm>
          <a:prstGeom prst="rect">
            <a:avLst/>
          </a:prstGeom>
          <a:solidFill>
            <a:srgbClr val="BC5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348471" y="306324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DCD3C4"/>
                </a:solidFill>
                <a:latin typeface="Cambria"/>
              </a:rPr>
              <a:t>Elite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48471" y="3355848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48A9B5"/>
                </a:solidFill>
                <a:latin typeface="Calibri"/>
              </a:rPr>
              <a:t>Keshikten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65592" y="3630168"/>
            <a:ext cx="2880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00" b="0" i="0">
                <a:solidFill>
                  <a:srgbClr val="E4EAEA"/>
                </a:solidFill>
                <a:latin typeface="Calibri"/>
              </a:rPr>
              <a:t>S4 elita gvardiyasi. Yakunlovchi zarba shart.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68680" y="4343400"/>
            <a:ext cx="10424160" cy="1207008"/>
          </a:xfrm>
          <a:prstGeom prst="rect">
            <a:avLst/>
          </a:prstGeom>
          <a:solidFill>
            <a:srgbClr val="1B2428"/>
          </a:solidFill>
          <a:ln w="9525">
            <a:solidFill>
              <a:srgbClr val="2A3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143000" y="4544568"/>
            <a:ext cx="46634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1" i="0">
                <a:solidFill>
                  <a:srgbClr val="C09660"/>
                </a:solidFill>
                <a:latin typeface="Calibri"/>
              </a:rPr>
              <a:t>Sezish — ikki kanal.</a:t>
            </a:r>
            <a:r>
              <a:rPr sz="1250" b="0" i="0">
                <a:solidFill>
                  <a:srgbClr val="E4EAEA"/>
                </a:solidFill>
                <a:latin typeface="Calibri"/>
              </a:rPr>
              <a:t>  Ko'rish konusi (cho'kkalasangiz 55%, past profilda 85% masofa) va eshitish (parkur shovqinlaridan). Ogohlik bosh ustida to'lib boruvchi kvadrat bilan ko'rsatiladi.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72200" y="4544568"/>
            <a:ext cx="48463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1" i="0">
                <a:solidFill>
                  <a:srgbClr val="C09660"/>
                </a:solidFill>
                <a:latin typeface="Calibri"/>
              </a:rPr>
              <a:t>Bir vaqtda faqat ikkitasi hujum qiladi.</a:t>
            </a:r>
            <a:r>
              <a:rPr sz="1250" b="0" i="0">
                <a:solidFill>
                  <a:srgbClr val="E4EAEA"/>
                </a:solidFill>
                <a:latin typeface="Calibri"/>
              </a:rPr>
              <a:t>  Qolganlari aylanib kutadi — AC dagi kabi. Aks holda besh kishilik to'lqin bir zumda o'ldirardi.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3550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0" i="0">
                <a:solidFill>
                  <a:srgbClr val="2A353A"/>
                </a:solidFill>
                <a:latin typeface="Calibri"/>
              </a:rPr>
              <a:t>JANG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424160" y="635508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50" b="0" i="0">
                <a:solidFill>
                  <a:srgbClr val="2A353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3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03504"/>
            <a:ext cx="91440" cy="91440"/>
          </a:xfrm>
          <a:prstGeom prst="rect">
            <a:avLst/>
          </a:prstGeom>
          <a:solidFill>
            <a:srgbClr val="48A9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475488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DCD3C4"/>
                </a:solidFill>
                <a:latin typeface="Cambria"/>
              </a:rPr>
              <a:t>Kamon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060704"/>
            <a:ext cx="10881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7C8B8F"/>
                </a:solidFill>
                <a:latin typeface="Calibri"/>
              </a:rPr>
              <a:t>XIII asr turk kompozit yoyi — ballistik o'q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682496"/>
            <a:ext cx="68580" cy="68580"/>
          </a:xfrm>
          <a:prstGeom prst="rect">
            <a:avLst/>
          </a:prstGeom>
          <a:solidFill>
            <a:srgbClr val="48A9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69848" y="1600200"/>
            <a:ext cx="5742432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 i="0">
                <a:solidFill>
                  <a:srgbClr val="C09660"/>
                </a:solidFill>
                <a:latin typeface="Calibri"/>
              </a:rPr>
              <a:t>Nishonga olish.  </a:t>
            </a:r>
            <a:r>
              <a:rPr sz="1300" b="0" i="0">
                <a:solidFill>
                  <a:srgbClr val="E4EAEA"/>
                </a:solidFill>
                <a:latin typeface="Calibri"/>
              </a:rPr>
              <a:t>G ni ushlang: kamera o'ng yelka ustiga siljiydi, ko'rish maydoni 48 dan 36 gradusga torayadi.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2286000"/>
            <a:ext cx="68580" cy="68580"/>
          </a:xfrm>
          <a:prstGeom prst="rect">
            <a:avLst/>
          </a:prstGeom>
          <a:solidFill>
            <a:srgbClr val="48A9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69848" y="2203704"/>
            <a:ext cx="5742432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 i="0">
                <a:solidFill>
                  <a:srgbClr val="C09660"/>
                </a:solidFill>
                <a:latin typeface="Calibri"/>
              </a:rPr>
              <a:t>Tortish 0.85 s.  </a:t>
            </a:r>
            <a:r>
              <a:rPr sz="1300" b="0" i="0">
                <a:solidFill>
                  <a:srgbClr val="E4EAEA"/>
                </a:solidFill>
                <a:latin typeface="Calibri"/>
              </a:rPr>
              <a:t>Nafas sarflanadi (to'la tortib ushlaganda 11/s). Nafas kamaygach qo'l titraydi va nishon halqasi kengayadi.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2889504"/>
            <a:ext cx="68580" cy="68580"/>
          </a:xfrm>
          <a:prstGeom prst="rect">
            <a:avLst/>
          </a:prstGeom>
          <a:solidFill>
            <a:srgbClr val="48A9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69848" y="2807208"/>
            <a:ext cx="5742432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 i="0">
                <a:solidFill>
                  <a:srgbClr val="C09660"/>
                </a:solidFill>
                <a:latin typeface="Calibri"/>
              </a:rPr>
              <a:t>Majburiy reliz.  </a:t>
            </a:r>
            <a:r>
              <a:rPr sz="1300" b="0" i="0">
                <a:solidFill>
                  <a:srgbClr val="E4EAEA"/>
                </a:solidFill>
                <a:latin typeface="Calibri"/>
              </a:rPr>
              <a:t>Nafas tugasa o'q o'zi uchadi — 60-70 kg yoyni uzoq ushlab bo'lmaydi.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" y="3493008"/>
            <a:ext cx="68580" cy="68580"/>
          </a:xfrm>
          <a:prstGeom prst="rect">
            <a:avLst/>
          </a:prstGeom>
          <a:solidFill>
            <a:srgbClr val="48A9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69848" y="3410712"/>
            <a:ext cx="5742432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 i="0">
                <a:solidFill>
                  <a:srgbClr val="C09660"/>
                </a:solidFill>
                <a:latin typeface="Calibri"/>
              </a:rPr>
              <a:t>Ballistika.  </a:t>
            </a:r>
            <a:r>
              <a:rPr sz="1300" b="0" i="0">
                <a:solidFill>
                  <a:srgbClr val="E4EAEA"/>
                </a:solidFill>
                <a:latin typeface="Calibri"/>
              </a:rPr>
              <a:t>O'q gravitatsiya bilan uchadi, 0.40 m qadamlar bilan integrallanadi; har qadamda yer, devor va dushman tekshiriladi.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206240"/>
            <a:ext cx="5943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DCD3C4"/>
                </a:solidFill>
                <a:latin typeface="Cambria"/>
              </a:rPr>
              <a:t>Tana zonalari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" y="4599431"/>
            <a:ext cx="1792224" cy="841248"/>
          </a:xfrm>
          <a:prstGeom prst="rect">
            <a:avLst/>
          </a:prstGeom>
          <a:solidFill>
            <a:srgbClr val="161D21"/>
          </a:solidFill>
          <a:ln w="9525">
            <a:solidFill>
              <a:srgbClr val="2A3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4727448"/>
            <a:ext cx="179222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1" i="0">
                <a:solidFill>
                  <a:srgbClr val="7C8B8F"/>
                </a:solidFill>
                <a:latin typeface="Cambria"/>
              </a:rPr>
              <a:t>x0.55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093208"/>
            <a:ext cx="17922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7C8B8F"/>
                </a:solidFill>
                <a:latin typeface="Calibri"/>
              </a:rPr>
              <a:t>Oyoq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80360" y="4599431"/>
            <a:ext cx="1792224" cy="841248"/>
          </a:xfrm>
          <a:prstGeom prst="rect">
            <a:avLst/>
          </a:prstGeom>
          <a:solidFill>
            <a:srgbClr val="161D21"/>
          </a:solidFill>
          <a:ln w="9525">
            <a:solidFill>
              <a:srgbClr val="2A3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880360" y="4727448"/>
            <a:ext cx="179222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1" i="0">
                <a:solidFill>
                  <a:srgbClr val="DCD3C4"/>
                </a:solidFill>
                <a:latin typeface="Cambria"/>
              </a:rPr>
              <a:t>x1.00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80360" y="5093208"/>
            <a:ext cx="17922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7C8B8F"/>
                </a:solidFill>
                <a:latin typeface="Calibri"/>
              </a:rPr>
              <a:t>Ko'krak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92040" y="4599431"/>
            <a:ext cx="1792224" cy="841248"/>
          </a:xfrm>
          <a:prstGeom prst="rect">
            <a:avLst/>
          </a:prstGeom>
          <a:solidFill>
            <a:srgbClr val="161D21"/>
          </a:solidFill>
          <a:ln w="9525">
            <a:solidFill>
              <a:srgbClr val="2A3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892040" y="4727448"/>
            <a:ext cx="179222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1" i="0">
                <a:solidFill>
                  <a:srgbClr val="BC5A44"/>
                </a:solidFill>
                <a:latin typeface="Cambria"/>
              </a:rPr>
              <a:t>x2.60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92040" y="5093208"/>
            <a:ext cx="17922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7C8B8F"/>
                </a:solidFill>
                <a:latin typeface="Calibri"/>
              </a:rPr>
              <a:t>Bosh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5550408"/>
            <a:ext cx="5943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150" b="0" i="0">
                <a:solidFill>
                  <a:srgbClr val="7C8B8F"/>
                </a:solidFill>
                <a:latin typeface="Calibri"/>
              </a:rPr>
              <a:t>Dubulg'asiz dushmanni boshdan bir o'q o'ldiradi — va u qichqirmaydi, ya'ni qo'shnilari bilmaydi. Devorga tekkan o'q qorovulni o'sha yoqqa yuboradi.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6892" y="1604772"/>
            <a:ext cx="4197096" cy="2526487"/>
          </a:xfrm>
          <a:prstGeom prst="rect">
            <a:avLst/>
          </a:prstGeom>
          <a:noFill/>
          <a:ln w="12700">
            <a:solidFill>
              <a:srgbClr val="2A3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25" name="Picture 24" descr="55_bow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1645920"/>
            <a:ext cx="4114800" cy="2443162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7136892" y="4165091"/>
            <a:ext cx="4197096" cy="2526487"/>
          </a:xfrm>
          <a:prstGeom prst="rect">
            <a:avLst/>
          </a:prstGeom>
          <a:noFill/>
          <a:ln w="12700">
            <a:solidFill>
              <a:srgbClr val="2A3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27" name="Picture 26" descr="56_bow_sh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4206240"/>
            <a:ext cx="4114800" cy="2443162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58368" y="63550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0" i="0">
                <a:solidFill>
                  <a:srgbClr val="2A353A"/>
                </a:solidFill>
                <a:latin typeface="Calibri"/>
              </a:rPr>
              <a:t>JANG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24160" y="635508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50" b="0" i="0">
                <a:solidFill>
                  <a:srgbClr val="2A353A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3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03504"/>
            <a:ext cx="91440" cy="91440"/>
          </a:xfrm>
          <a:prstGeom prst="rect">
            <a:avLst/>
          </a:prstGeom>
          <a:solidFill>
            <a:srgbClr val="48A9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475488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DCD3C4"/>
                </a:solidFill>
                <a:latin typeface="Cambria"/>
              </a:rPr>
              <a:t>Iymon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060704"/>
            <a:ext cx="10881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7C8B8F"/>
                </a:solidFill>
                <a:latin typeface="Calibri"/>
              </a:rPr>
              <a:t>Jangdagi joriy formangiz — yig'iladigan ochko emas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600200"/>
            <a:ext cx="2432304" cy="1481328"/>
          </a:xfrm>
          <a:prstGeom prst="rect">
            <a:avLst/>
          </a:prstGeom>
          <a:solidFill>
            <a:srgbClr val="161D21"/>
          </a:solidFill>
          <a:ln w="9525">
            <a:solidFill>
              <a:srgbClr val="2A3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69848" y="178308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7C8B8F"/>
                </a:solidFill>
                <a:latin typeface="Calibri"/>
              </a:rPr>
              <a:t>0-25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" y="2075688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BC5A44"/>
                </a:solidFill>
                <a:latin typeface="Cambria"/>
              </a:rPr>
              <a:t>Adashgan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2459736"/>
            <a:ext cx="2011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 i="0">
                <a:solidFill>
                  <a:srgbClr val="E4EAEA"/>
                </a:solidFill>
                <a:latin typeface="Calibri"/>
              </a:rPr>
              <a:t>nafas x0.75, poza x0.80</a:t>
            </a:r>
          </a:p>
        </p:txBody>
      </p:sp>
      <p:sp>
        <p:nvSpPr>
          <p:cNvPr id="9" name="Rectangle 8"/>
          <p:cNvSpPr/>
          <p:nvPr/>
        </p:nvSpPr>
        <p:spPr>
          <a:xfrm>
            <a:off x="3520439" y="1600200"/>
            <a:ext cx="2432304" cy="1481328"/>
          </a:xfrm>
          <a:prstGeom prst="rect">
            <a:avLst/>
          </a:prstGeom>
          <a:solidFill>
            <a:srgbClr val="161D21"/>
          </a:solidFill>
          <a:ln w="9525">
            <a:solidFill>
              <a:srgbClr val="2A3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721607" y="178308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7C8B8F"/>
                </a:solidFill>
                <a:latin typeface="Calibri"/>
              </a:rPr>
              <a:t>26-50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21607" y="2075688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7C8B8F"/>
                </a:solidFill>
                <a:latin typeface="Cambria"/>
              </a:rPr>
              <a:t>Shubha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21607" y="2459736"/>
            <a:ext cx="2011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 i="0">
                <a:solidFill>
                  <a:srgbClr val="E4EAEA"/>
                </a:solidFill>
                <a:latin typeface="Calibri"/>
              </a:rPr>
              <a:t>neytral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600200"/>
            <a:ext cx="2432304" cy="1481328"/>
          </a:xfrm>
          <a:prstGeom prst="rect">
            <a:avLst/>
          </a:prstGeom>
          <a:solidFill>
            <a:srgbClr val="161D21"/>
          </a:solidFill>
          <a:ln w="9525">
            <a:solidFill>
              <a:srgbClr val="2A3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73368" y="178308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7C8B8F"/>
                </a:solidFill>
                <a:latin typeface="Calibri"/>
              </a:rPr>
              <a:t>51-75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2075688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C09660"/>
                </a:solidFill>
                <a:latin typeface="Cambria"/>
              </a:rPr>
              <a:t>Sobit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3368" y="2459736"/>
            <a:ext cx="2011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 i="0">
                <a:solidFill>
                  <a:srgbClr val="E4EAEA"/>
                </a:solidFill>
                <a:latin typeface="Calibri"/>
              </a:rPr>
              <a:t>nafas x1.50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823959" y="1600200"/>
            <a:ext cx="2432304" cy="1481328"/>
          </a:xfrm>
          <a:prstGeom prst="rect">
            <a:avLst/>
          </a:prstGeom>
          <a:solidFill>
            <a:srgbClr val="161D21"/>
          </a:solidFill>
          <a:ln w="15875">
            <a:solidFill>
              <a:srgbClr val="48A9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025128" y="178308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7C8B8F"/>
                </a:solidFill>
                <a:latin typeface="Calibri"/>
              </a:rPr>
              <a:t>76-100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25128" y="2075688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48A9B5"/>
                </a:solidFill>
                <a:latin typeface="Cambria"/>
              </a:rPr>
              <a:t>Sukunat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25128" y="2459736"/>
            <a:ext cx="2011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 i="0">
                <a:solidFill>
                  <a:srgbClr val="E4EAEA"/>
                </a:solidFill>
                <a:latin typeface="Calibri"/>
              </a:rPr>
              <a:t>nafas/poza x1.50 + vaqt sekinlashuvi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355848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C09660"/>
                </a:solidFill>
                <a:latin typeface="Cambria"/>
              </a:rPr>
              <a:t>Ko'tarish — mahoratdan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68680" y="3803904"/>
            <a:ext cx="68580" cy="68580"/>
          </a:xfrm>
          <a:prstGeom prst="rect">
            <a:avLst/>
          </a:prstGeom>
          <a:solidFill>
            <a:srgbClr val="48A9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69848" y="3721608"/>
            <a:ext cx="4828032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 i="0">
                <a:solidFill>
                  <a:srgbClr val="E4EAEA"/>
                </a:solidFill>
                <a:latin typeface="Calibri"/>
              </a:rPr>
              <a:t>Mukammal parry  +0.4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68680" y="4133088"/>
            <a:ext cx="68580" cy="68580"/>
          </a:xfrm>
          <a:prstGeom prst="rect">
            <a:avLst/>
          </a:prstGeom>
          <a:solidFill>
            <a:srgbClr val="48A9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69848" y="4050792"/>
            <a:ext cx="4828032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 i="0">
                <a:solidFill>
                  <a:srgbClr val="E4EAEA"/>
                </a:solidFill>
                <a:latin typeface="Calibri"/>
              </a:rPr>
              <a:t>Yakunlovchi zarba  +2.0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68680" y="4462272"/>
            <a:ext cx="68580" cy="68580"/>
          </a:xfrm>
          <a:prstGeom prst="rect">
            <a:avLst/>
          </a:prstGeom>
          <a:solidFill>
            <a:srgbClr val="48A9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69848" y="4379976"/>
            <a:ext cx="4828032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 i="0">
                <a:solidFill>
                  <a:srgbClr val="E4EAEA"/>
                </a:solidFill>
                <a:latin typeface="Calibri"/>
              </a:rPr>
              <a:t>Zarba yemasdan tugatilgan to'lqin  +5.0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68680" y="4791456"/>
            <a:ext cx="68580" cy="68580"/>
          </a:xfrm>
          <a:prstGeom prst="rect">
            <a:avLst/>
          </a:prstGeom>
          <a:solidFill>
            <a:srgbClr val="48A9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69848" y="4709160"/>
            <a:ext cx="4828032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 i="0">
                <a:solidFill>
                  <a:srgbClr val="E4EAEA"/>
                </a:solidFill>
                <a:latin typeface="Calibri"/>
              </a:rPr>
              <a:t>Epizod bajarildi  +6.0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3640" y="3355848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BC5A44"/>
                </a:solidFill>
                <a:latin typeface="Cambria"/>
              </a:rPr>
              <a:t>Tushish — beparvolikdan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63640" y="3803904"/>
            <a:ext cx="68580" cy="68580"/>
          </a:xfrm>
          <a:prstGeom prst="rect">
            <a:avLst/>
          </a:prstGeom>
          <a:solidFill>
            <a:srgbClr val="48A9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64807" y="3721608"/>
            <a:ext cx="4828032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 i="0">
                <a:solidFill>
                  <a:srgbClr val="E4EAEA"/>
                </a:solidFill>
                <a:latin typeface="Calibri"/>
              </a:rPr>
              <a:t>Har zarba yeyish  -0.6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63640" y="4133088"/>
            <a:ext cx="68580" cy="68580"/>
          </a:xfrm>
          <a:prstGeom prst="rect">
            <a:avLst/>
          </a:prstGeom>
          <a:solidFill>
            <a:srgbClr val="48A9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64807" y="4050792"/>
            <a:ext cx="4828032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 i="0">
                <a:solidFill>
                  <a:srgbClr val="E4EAEA"/>
                </a:solidFill>
                <a:latin typeface="Calibri"/>
              </a:rPr>
              <a:t>Halok bo'lish  -8.0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68680" y="5166360"/>
            <a:ext cx="10424160" cy="896112"/>
          </a:xfrm>
          <a:prstGeom prst="rect">
            <a:avLst/>
          </a:prstGeom>
          <a:solidFill>
            <a:srgbClr val="1B2428"/>
          </a:solidFill>
          <a:ln w="12700">
            <a:solidFill>
              <a:srgbClr val="48A9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143000" y="5349240"/>
            <a:ext cx="987552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400" b="1" i="0">
                <a:solidFill>
                  <a:srgbClr val="48A9B5"/>
                </a:solidFill>
                <a:latin typeface="Calibri"/>
              </a:rPr>
              <a:t>Sukunat.</a:t>
            </a:r>
            <a:r>
              <a:rPr sz="1300" b="0" i="0">
                <a:solidFill>
                  <a:srgbClr val="E4EAEA"/>
                </a:solidFill>
                <a:latin typeface="Calibri"/>
              </a:rPr>
              <a:t>  Iymon 76 dan yuqori bo'lsa, mukammal parry yoki yakunlovchi zarba 1.2 soniya davomida vaqtni 0.45x ga sekinlashtiradi. 9 soniya sovish vaqti bor — uni yig'ib qo'yib bo'lmaydi. Iymon progress.json da saqlanadi.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63550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0" i="0">
                <a:solidFill>
                  <a:srgbClr val="2A353A"/>
                </a:solidFill>
                <a:latin typeface="Calibri"/>
              </a:rPr>
              <a:t>JANG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424160" y="635508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50" b="0" i="0">
                <a:solidFill>
                  <a:srgbClr val="2A353A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3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03504"/>
            <a:ext cx="91440" cy="91440"/>
          </a:xfrm>
          <a:prstGeom prst="rect">
            <a:avLst/>
          </a:prstGeom>
          <a:solidFill>
            <a:srgbClr val="48A9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475488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DCD3C4"/>
                </a:solidFill>
                <a:latin typeface="Cambria"/>
              </a:rPr>
              <a:t>Zarba qaytarmasi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060704"/>
            <a:ext cx="10881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7C8B8F"/>
                </a:solidFill>
                <a:latin typeface="Calibri"/>
              </a:rPr>
              <a:t>Nima uchun jang 'bo'sh' his qilinardi — uchta uzilgan sim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600200"/>
            <a:ext cx="10424160" cy="1298448"/>
          </a:xfrm>
          <a:prstGeom prst="rect">
            <a:avLst/>
          </a:prstGeom>
          <a:solidFill>
            <a:srgbClr val="161D21"/>
          </a:solidFill>
          <a:ln w="12700">
            <a:solidFill>
              <a:srgbClr val="BC5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" y="1783080"/>
            <a:ext cx="987552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400" b="1" i="0">
                <a:solidFill>
                  <a:srgbClr val="BC5A44"/>
                </a:solidFill>
                <a:latin typeface="Calibri"/>
              </a:rPr>
              <a:t>Topilgan asosiy nuqson.</a:t>
            </a:r>
            <a:r>
              <a:rPr sz="1250" b="0" i="0">
                <a:solidFill>
                  <a:srgbClr val="E4EAEA"/>
                </a:solidFill>
                <a:latin typeface="Calibri"/>
              </a:rPr>
              <a:t>  setClip() bir martalik klipni HAR KADR qayta boshlardi. Character va Enemy klipni har kadr so'raydi, setClip esa mahalliy vaqtni nolga qaytarardi — natijada zarba, zarba yeyish, parkur va yakunlovchi zarba animatsiyalari birinchi kadrida MUZLAB turardi. Poza lt = dt da qotgani uchun natija kadr chastotasiga ham bog'liq edi: 60 Gts da bosh 21 gradus, 30 Gts da 33 gradus orqaga tashlangan holda 0.35 s qotardi.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3172968"/>
            <a:ext cx="10424160" cy="347472"/>
          </a:xfrm>
          <a:prstGeom prst="rect">
            <a:avLst/>
          </a:prstGeom>
          <a:solidFill>
            <a:srgbClr val="1B2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3264408"/>
            <a:ext cx="2148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7C8B8F"/>
                </a:solidFill>
                <a:latin typeface="Calibri"/>
              </a:rPr>
              <a:t>Kanal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63240" y="3264408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1" i="0">
                <a:solidFill>
                  <a:srgbClr val="7C8B8F"/>
                </a:solidFill>
                <a:latin typeface="Calibri"/>
              </a:rPr>
              <a:t>Tegdi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3264408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1" i="0">
                <a:solidFill>
                  <a:srgbClr val="7C8B8F"/>
                </a:solidFill>
                <a:latin typeface="Calibri"/>
              </a:rPr>
              <a:t>Bloklandi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3264408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1" i="0">
                <a:solidFill>
                  <a:srgbClr val="7C8B8F"/>
                </a:solidFill>
                <a:latin typeface="Calibri"/>
              </a:rPr>
              <a:t>O'ldirdi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5240" y="3264408"/>
            <a:ext cx="1600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1" i="0">
                <a:solidFill>
                  <a:srgbClr val="7C8B8F"/>
                </a:solidFill>
                <a:latin typeface="Calibri"/>
              </a:rPr>
              <a:t>O'zi yedi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81160" y="3264408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1" i="0">
                <a:solidFill>
                  <a:srgbClr val="7C8B8F"/>
                </a:solidFill>
                <a:latin typeface="Calibri"/>
              </a:rPr>
              <a:t>Parry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575303"/>
            <a:ext cx="2148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E4EAEA"/>
                </a:solidFill>
                <a:latin typeface="Calibri"/>
              </a:rPr>
              <a:t>Muzlash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3240" y="3575303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DCD3C4"/>
                </a:solidFill>
                <a:latin typeface="Calibri"/>
              </a:rPr>
              <a:t>55 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3575303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DCD3C4"/>
                </a:solidFill>
                <a:latin typeface="Calibri"/>
              </a:rPr>
              <a:t>35 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3575303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DCD3C4"/>
                </a:solidFill>
                <a:latin typeface="Calibri"/>
              </a:rPr>
              <a:t>100 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35240" y="3575303"/>
            <a:ext cx="1600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 i="0">
                <a:solidFill>
                  <a:srgbClr val="C09660"/>
                </a:solidFill>
                <a:latin typeface="Calibri"/>
              </a:rPr>
              <a:t>70 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81160" y="3575303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DCD3C4"/>
                </a:solidFill>
                <a:latin typeface="Calibri"/>
              </a:rPr>
              <a:t>130 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941063"/>
            <a:ext cx="2148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E4EAEA"/>
                </a:solidFill>
                <a:latin typeface="Calibri"/>
              </a:rPr>
              <a:t>Kamera turtkisi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3240" y="3941063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DCD3C4"/>
                </a:solidFill>
                <a:latin typeface="Calibri"/>
              </a:rPr>
              <a:t>0.28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3941063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DCD3C4"/>
                </a:solidFill>
                <a:latin typeface="Calibri"/>
              </a:rPr>
              <a:t>0.18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0" y="3941063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DCD3C4"/>
                </a:solidFill>
                <a:latin typeface="Calibri"/>
              </a:rPr>
              <a:t>0.45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35240" y="3941063"/>
            <a:ext cx="1600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 i="0">
                <a:solidFill>
                  <a:srgbClr val="C09660"/>
                </a:solidFill>
                <a:latin typeface="Calibri"/>
              </a:rPr>
              <a:t>0.65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81160" y="3941063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DCD3C4"/>
                </a:solidFill>
                <a:latin typeface="Calibri"/>
              </a:rPr>
              <a:t>0.40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4306824"/>
            <a:ext cx="2148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E4EAEA"/>
                </a:solidFill>
                <a:latin typeface="Calibri"/>
              </a:rPr>
              <a:t>Uchqun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63240" y="4306824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DCD3C4"/>
                </a:solidFill>
                <a:latin typeface="Calibri"/>
              </a:rPr>
              <a:t>feruza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26280" y="4306824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DCD3C4"/>
                </a:solidFill>
                <a:latin typeface="Calibri"/>
              </a:rPr>
              <a:t>zarhal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35040" y="4306824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DCD3C4"/>
                </a:solidFill>
                <a:latin typeface="Calibri"/>
              </a:rPr>
              <a:t>ikki qavat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35240" y="4306824"/>
            <a:ext cx="1600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 i="0">
                <a:solidFill>
                  <a:srgbClr val="C09660"/>
                </a:solidFill>
                <a:latin typeface="Calibri"/>
              </a:rPr>
              <a:t>feruza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81160" y="4306824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DCD3C4"/>
                </a:solidFill>
                <a:latin typeface="Calibri"/>
              </a:rPr>
              <a:t>zarhal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4672584"/>
            <a:ext cx="2148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E4EAEA"/>
                </a:solidFill>
                <a:latin typeface="Calibri"/>
              </a:rPr>
              <a:t>Tovush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63240" y="4672584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DCD3C4"/>
                </a:solidFill>
                <a:latin typeface="Calibri"/>
              </a:rPr>
              <a:t>past chuq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26280" y="4672584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DCD3C4"/>
                </a:solidFill>
                <a:latin typeface="Calibri"/>
              </a:rPr>
              <a:t>metall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35040" y="4672584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DCD3C4"/>
                </a:solidFill>
                <a:latin typeface="Calibri"/>
              </a:rPr>
              <a:t>og'ir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35240" y="4672584"/>
            <a:ext cx="1600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 i="0">
                <a:solidFill>
                  <a:srgbClr val="C09660"/>
                </a:solidFill>
                <a:latin typeface="Calibri"/>
              </a:rPr>
              <a:t>kuchli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81160" y="4672584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DCD3C4"/>
                </a:solidFill>
                <a:latin typeface="Calibri"/>
              </a:rPr>
              <a:t>yorqin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" y="5148072"/>
            <a:ext cx="104241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250" b="1" i="0">
                <a:solidFill>
                  <a:srgbClr val="C09660"/>
                </a:solidFill>
                <a:latin typeface="Calibri"/>
              </a:rPr>
              <a:t>Ikki nozik joy.</a:t>
            </a:r>
            <a:r>
              <a:rPr sz="1250" b="0" i="0">
                <a:solidFill>
                  <a:srgbClr val="E4EAEA"/>
                </a:solidFill>
                <a:latin typeface="Calibri"/>
              </a:rPr>
              <a:t>  Muzlash HAQIQIY dt bilan so'nadi — aks holda o'zi sekinlashtirgan vaqt bilan kamayib cheksiz cho'zilardi. Kamera silkinishi camSmooth ga yozilmaydi — yozilsa turtkilar qo'shilib kamerani joyidan surib yuborardi.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63550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0" i="0">
                <a:solidFill>
                  <a:srgbClr val="2A353A"/>
                </a:solidFill>
                <a:latin typeface="Calibri"/>
              </a:rPr>
              <a:t>JANG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424160" y="635508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50" b="0" i="0">
                <a:solidFill>
                  <a:srgbClr val="2A353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3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03504"/>
            <a:ext cx="91440" cy="91440"/>
          </a:xfrm>
          <a:prstGeom prst="rect">
            <a:avLst/>
          </a:prstGeom>
          <a:solidFill>
            <a:srgbClr val="48A9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475488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DCD3C4"/>
                </a:solidFill>
                <a:latin typeface="Cambria"/>
              </a:rPr>
              <a:t>Epizod halqasi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060704"/>
            <a:ext cx="10881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7C8B8F"/>
                </a:solidFill>
                <a:latin typeface="Calibri"/>
              </a:rPr>
              <a:t>Muvaffaqiyatsizlik va qayta tug'ilishning to'liq mantig'i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600200"/>
            <a:ext cx="1993392" cy="566928"/>
          </a:xfrm>
          <a:prstGeom prst="rect">
            <a:avLst/>
          </a:prstGeom>
          <a:solidFill>
            <a:srgbClr val="161D21"/>
          </a:solidFill>
          <a:ln w="11430">
            <a:solidFill>
              <a:srgbClr val="48A9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773936"/>
            <a:ext cx="199339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 i="0">
                <a:solidFill>
                  <a:srgbClr val="DCD3C4"/>
                </a:solidFill>
                <a:latin typeface="Calibri"/>
              </a:rPr>
              <a:t>Cutscene</a:t>
            </a:r>
          </a:p>
        </p:txBody>
      </p:sp>
      <p:sp>
        <p:nvSpPr>
          <p:cNvPr id="7" name="Isosceles Triangle 6"/>
          <p:cNvSpPr/>
          <p:nvPr/>
        </p:nvSpPr>
        <p:spPr>
          <a:xfrm>
            <a:off x="2916936" y="1801368"/>
            <a:ext cx="109728" cy="164592"/>
          </a:xfrm>
          <a:prstGeom prst="triangle">
            <a:avLst/>
          </a:prstGeom>
          <a:solidFill>
            <a:srgbClr val="2A3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081528" y="1600200"/>
            <a:ext cx="1993392" cy="566928"/>
          </a:xfrm>
          <a:prstGeom prst="rect">
            <a:avLst/>
          </a:prstGeom>
          <a:solidFill>
            <a:srgbClr val="161D21"/>
          </a:solidFill>
          <a:ln w="11430">
            <a:solidFill>
              <a:srgbClr val="48A9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081528" y="1773936"/>
            <a:ext cx="199339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 i="0">
                <a:solidFill>
                  <a:srgbClr val="DCD3C4"/>
                </a:solidFill>
                <a:latin typeface="Calibri"/>
              </a:rPr>
              <a:t>Brifing</a:t>
            </a:r>
          </a:p>
        </p:txBody>
      </p:sp>
      <p:sp>
        <p:nvSpPr>
          <p:cNvPr id="10" name="Isosceles Triangle 9"/>
          <p:cNvSpPr/>
          <p:nvPr/>
        </p:nvSpPr>
        <p:spPr>
          <a:xfrm>
            <a:off x="5129784" y="1801368"/>
            <a:ext cx="109728" cy="164592"/>
          </a:xfrm>
          <a:prstGeom prst="triangle">
            <a:avLst/>
          </a:prstGeom>
          <a:solidFill>
            <a:srgbClr val="2A3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294376" y="1600200"/>
            <a:ext cx="1993392" cy="566928"/>
          </a:xfrm>
          <a:prstGeom prst="rect">
            <a:avLst/>
          </a:prstGeom>
          <a:solidFill>
            <a:srgbClr val="161D21"/>
          </a:solidFill>
          <a:ln w="11430">
            <a:solidFill>
              <a:srgbClr val="C096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294376" y="1773936"/>
            <a:ext cx="199339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 i="0">
                <a:solidFill>
                  <a:srgbClr val="DCD3C4"/>
                </a:solidFill>
                <a:latin typeface="Calibri"/>
              </a:rPr>
              <a:t>Jang</a:t>
            </a:r>
          </a:p>
        </p:txBody>
      </p:sp>
      <p:sp>
        <p:nvSpPr>
          <p:cNvPr id="13" name="Isosceles Triangle 12"/>
          <p:cNvSpPr/>
          <p:nvPr/>
        </p:nvSpPr>
        <p:spPr>
          <a:xfrm>
            <a:off x="7342632" y="1801368"/>
            <a:ext cx="109728" cy="164592"/>
          </a:xfrm>
          <a:prstGeom prst="triangle">
            <a:avLst/>
          </a:prstGeom>
          <a:solidFill>
            <a:srgbClr val="2A3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507223" y="1600200"/>
            <a:ext cx="1993392" cy="566928"/>
          </a:xfrm>
          <a:prstGeom prst="rect">
            <a:avLst/>
          </a:prstGeom>
          <a:solidFill>
            <a:srgbClr val="161D21"/>
          </a:solidFill>
          <a:ln w="11430">
            <a:solidFill>
              <a:srgbClr val="C096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507223" y="1773936"/>
            <a:ext cx="199339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 i="0">
                <a:solidFill>
                  <a:srgbClr val="DCD3C4"/>
                </a:solidFill>
                <a:latin typeface="Calibri"/>
              </a:rPr>
              <a:t>To'lqin tozalandi</a:t>
            </a:r>
          </a:p>
        </p:txBody>
      </p:sp>
      <p:sp>
        <p:nvSpPr>
          <p:cNvPr id="16" name="Isosceles Triangle 15"/>
          <p:cNvSpPr/>
          <p:nvPr/>
        </p:nvSpPr>
        <p:spPr>
          <a:xfrm>
            <a:off x="9555480" y="1801368"/>
            <a:ext cx="109728" cy="164592"/>
          </a:xfrm>
          <a:prstGeom prst="triangle">
            <a:avLst/>
          </a:prstGeom>
          <a:solidFill>
            <a:srgbClr val="2A3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720072" y="1600200"/>
            <a:ext cx="1993392" cy="566928"/>
          </a:xfrm>
          <a:prstGeom prst="rect">
            <a:avLst/>
          </a:prstGeom>
          <a:solidFill>
            <a:srgbClr val="161D21"/>
          </a:solidFill>
          <a:ln w="11430">
            <a:solidFill>
              <a:srgbClr val="48A9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720072" y="1773936"/>
            <a:ext cx="199339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 i="0">
                <a:solidFill>
                  <a:srgbClr val="DCD3C4"/>
                </a:solidFill>
                <a:latin typeface="Calibri"/>
              </a:rPr>
              <a:t>Nazorat nuqtasi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8680" y="2377440"/>
            <a:ext cx="5029200" cy="1572768"/>
          </a:xfrm>
          <a:prstGeom prst="rect">
            <a:avLst/>
          </a:prstGeom>
          <a:solidFill>
            <a:srgbClr val="161D21"/>
          </a:solidFill>
          <a:ln w="12700">
            <a:solidFill>
              <a:srgbClr val="BC5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97280" y="2532888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BC5A44"/>
                </a:solidFill>
                <a:latin typeface="Cambria"/>
              </a:rPr>
              <a:t>Halok bo'ldingiz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97280" y="2980944"/>
            <a:ext cx="68580" cy="68580"/>
          </a:xfrm>
          <a:prstGeom prst="rect">
            <a:avLst/>
          </a:prstGeom>
          <a:solidFill>
            <a:srgbClr val="48A9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298448" y="2898648"/>
            <a:ext cx="437083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 i="0">
                <a:solidFill>
                  <a:srgbClr val="E4EAEA"/>
                </a:solidFill>
                <a:latin typeface="Calibri"/>
              </a:rPr>
              <a:t>Nazorat nuqtasidan qayta urinish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97280" y="3291839"/>
            <a:ext cx="68580" cy="68580"/>
          </a:xfrm>
          <a:prstGeom prst="rect">
            <a:avLst/>
          </a:prstGeom>
          <a:solidFill>
            <a:srgbClr val="48A9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298448" y="3209544"/>
            <a:ext cx="437083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 i="0">
                <a:solidFill>
                  <a:srgbClr val="E4EAEA"/>
                </a:solidFill>
                <a:latin typeface="Calibri"/>
              </a:rPr>
              <a:t>Epizodni boshidan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97280" y="3602735"/>
            <a:ext cx="68580" cy="68580"/>
          </a:xfrm>
          <a:prstGeom prst="rect">
            <a:avLst/>
          </a:prstGeom>
          <a:solidFill>
            <a:srgbClr val="48A9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298448" y="3520439"/>
            <a:ext cx="437083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 i="0">
                <a:solidFill>
                  <a:srgbClr val="E4EAEA"/>
                </a:solidFill>
                <a:latin typeface="Calibri"/>
              </a:rPr>
              <a:t>Bosh menyuga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4032503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 i="0" dirty="0" err="1">
                <a:solidFill>
                  <a:srgbClr val="7C8B8F"/>
                </a:solidFill>
                <a:latin typeface="Calibri"/>
              </a:rPr>
              <a:t>Joriy</a:t>
            </a:r>
            <a:r>
              <a:rPr sz="1050" b="0" i="0" dirty="0">
                <a:solidFill>
                  <a:srgbClr val="7C8B8F"/>
                </a:solidFill>
                <a:latin typeface="Calibri"/>
              </a:rPr>
              <a:t> </a:t>
            </a:r>
            <a:r>
              <a:rPr sz="1050" b="0" i="0" dirty="0" err="1">
                <a:solidFill>
                  <a:srgbClr val="7C8B8F"/>
                </a:solidFill>
                <a:latin typeface="Calibri"/>
              </a:rPr>
              <a:t>to'lqin</a:t>
            </a:r>
            <a:r>
              <a:rPr sz="1050" b="0" i="0" dirty="0">
                <a:solidFill>
                  <a:srgbClr val="7C8B8F"/>
                </a:solidFill>
                <a:latin typeface="Calibri"/>
              </a:rPr>
              <a:t> </a:t>
            </a:r>
            <a:r>
              <a:rPr sz="1050" b="0" i="0" dirty="0" err="1">
                <a:solidFill>
                  <a:srgbClr val="7C8B8F"/>
                </a:solidFill>
                <a:latin typeface="Calibri"/>
              </a:rPr>
              <a:t>dushmanlari</a:t>
            </a:r>
            <a:r>
              <a:rPr sz="1050" b="0" i="0" dirty="0">
                <a:solidFill>
                  <a:srgbClr val="7C8B8F"/>
                </a:solidFill>
                <a:latin typeface="Calibri"/>
              </a:rPr>
              <a:t> </a:t>
            </a:r>
            <a:r>
              <a:rPr sz="1050" b="0" i="0" dirty="0" err="1">
                <a:solidFill>
                  <a:srgbClr val="7C8B8F"/>
                </a:solidFill>
                <a:latin typeface="Calibri"/>
              </a:rPr>
              <a:t>yangidan</a:t>
            </a:r>
            <a:r>
              <a:rPr sz="1050" b="0" i="0" dirty="0">
                <a:solidFill>
                  <a:srgbClr val="7C8B8F"/>
                </a:solidFill>
                <a:latin typeface="Calibri"/>
              </a:rPr>
              <a:t>, </a:t>
            </a:r>
            <a:r>
              <a:rPr sz="1050" b="0" i="0" dirty="0" err="1">
                <a:solidFill>
                  <a:srgbClr val="7C8B8F"/>
                </a:solidFill>
                <a:latin typeface="Calibri"/>
              </a:rPr>
              <a:t>bajarilganlari</a:t>
            </a:r>
            <a:r>
              <a:rPr sz="1050" b="0" i="0" dirty="0">
                <a:solidFill>
                  <a:srgbClr val="7C8B8F"/>
                </a:solidFill>
                <a:latin typeface="Calibri"/>
              </a:rPr>
              <a:t> </a:t>
            </a:r>
            <a:r>
              <a:rPr sz="1050" b="0" i="0" dirty="0" err="1">
                <a:solidFill>
                  <a:srgbClr val="7C8B8F"/>
                </a:solidFill>
                <a:latin typeface="Calibri"/>
              </a:rPr>
              <a:t>qaytmaydi</a:t>
            </a:r>
            <a:r>
              <a:rPr sz="1050" b="0" i="0" dirty="0">
                <a:solidFill>
                  <a:srgbClr val="7C8B8F"/>
                </a:solidFill>
                <a:latin typeface="Calibri"/>
              </a:rPr>
              <a:t>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63640" y="2377440"/>
            <a:ext cx="5029200" cy="1572768"/>
          </a:xfrm>
          <a:prstGeom prst="rect">
            <a:avLst/>
          </a:prstGeom>
          <a:solidFill>
            <a:srgbClr val="161D21"/>
          </a:solidFill>
          <a:ln w="12700">
            <a:solidFill>
              <a:srgbClr val="48A9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92240" y="2532888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48A9B5"/>
                </a:solidFill>
                <a:latin typeface="Cambria"/>
              </a:rPr>
              <a:t>Epizod bajarildi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92240" y="2980944"/>
            <a:ext cx="68580" cy="68580"/>
          </a:xfrm>
          <a:prstGeom prst="rect">
            <a:avLst/>
          </a:prstGeom>
          <a:solidFill>
            <a:srgbClr val="48A9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693407" y="2898648"/>
            <a:ext cx="437083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 i="0">
                <a:solidFill>
                  <a:srgbClr val="E4EAEA"/>
                </a:solidFill>
                <a:latin typeface="Calibri"/>
              </a:rPr>
              <a:t>Cliffhanger cutscene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92240" y="3291839"/>
            <a:ext cx="68580" cy="68580"/>
          </a:xfrm>
          <a:prstGeom prst="rect">
            <a:avLst/>
          </a:prstGeom>
          <a:solidFill>
            <a:srgbClr val="48A9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693407" y="3209544"/>
            <a:ext cx="437083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 i="0">
                <a:solidFill>
                  <a:srgbClr val="E4EAEA"/>
                </a:solidFill>
                <a:latin typeface="Calibri"/>
              </a:rPr>
              <a:t>Keyingi epizod ochiladi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92240" y="3602735"/>
            <a:ext cx="68580" cy="68580"/>
          </a:xfrm>
          <a:prstGeom prst="rect">
            <a:avLst/>
          </a:prstGeom>
          <a:solidFill>
            <a:srgbClr val="48A9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693407" y="3520439"/>
            <a:ext cx="437083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 i="0">
                <a:solidFill>
                  <a:srgbClr val="E4EAEA"/>
                </a:solidFill>
                <a:latin typeface="Calibri"/>
              </a:rPr>
              <a:t>saves/progress.json ga yoziladi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20052" y="4032503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 i="0" dirty="0" err="1">
                <a:solidFill>
                  <a:srgbClr val="7C8B8F"/>
                </a:solidFill>
                <a:latin typeface="Calibri"/>
              </a:rPr>
              <a:t>O'limlar</a:t>
            </a:r>
            <a:r>
              <a:rPr sz="1050" b="0" i="0" dirty="0">
                <a:solidFill>
                  <a:srgbClr val="7C8B8F"/>
                </a:solidFill>
                <a:latin typeface="Calibri"/>
              </a:rPr>
              <a:t>, </a:t>
            </a:r>
            <a:r>
              <a:rPr sz="1050" b="0" i="0" dirty="0" err="1">
                <a:solidFill>
                  <a:srgbClr val="7C8B8F"/>
                </a:solidFill>
                <a:latin typeface="Calibri"/>
              </a:rPr>
              <a:t>o'ldirilganlar</a:t>
            </a:r>
            <a:r>
              <a:rPr sz="1050" b="0" i="0" dirty="0">
                <a:solidFill>
                  <a:srgbClr val="7C8B8F"/>
                </a:solidFill>
                <a:latin typeface="Calibri"/>
              </a:rPr>
              <a:t> </a:t>
            </a:r>
            <a:r>
              <a:rPr sz="1050" b="0" i="0" dirty="0" err="1">
                <a:solidFill>
                  <a:srgbClr val="7C8B8F"/>
                </a:solidFill>
                <a:latin typeface="Calibri"/>
              </a:rPr>
              <a:t>va</a:t>
            </a:r>
            <a:r>
              <a:rPr sz="1050" b="0" i="0" dirty="0">
                <a:solidFill>
                  <a:srgbClr val="7C8B8F"/>
                </a:solidFill>
                <a:latin typeface="Calibri"/>
              </a:rPr>
              <a:t> </a:t>
            </a:r>
            <a:r>
              <a:rPr sz="1050" b="0" i="0" dirty="0" err="1">
                <a:solidFill>
                  <a:srgbClr val="7C8B8F"/>
                </a:solidFill>
                <a:latin typeface="Calibri"/>
              </a:rPr>
              <a:t>Iymon</a:t>
            </a:r>
            <a:r>
              <a:rPr sz="1050" b="0" i="0" dirty="0">
                <a:solidFill>
                  <a:srgbClr val="7C8B8F"/>
                </a:solidFill>
                <a:latin typeface="Calibri"/>
              </a:rPr>
              <a:t> </a:t>
            </a:r>
            <a:r>
              <a:rPr sz="1050" b="0" i="0" dirty="0" err="1">
                <a:solidFill>
                  <a:srgbClr val="7C8B8F"/>
                </a:solidFill>
                <a:latin typeface="Calibri"/>
              </a:rPr>
              <a:t>saqlanadi</a:t>
            </a:r>
            <a:r>
              <a:rPr sz="1050" b="0" i="0" dirty="0">
                <a:solidFill>
                  <a:srgbClr val="7C8B8F"/>
                </a:solidFill>
                <a:latin typeface="Calibri"/>
              </a:rPr>
              <a:t>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955292" y="4370832"/>
            <a:ext cx="3739896" cy="2254910"/>
          </a:xfrm>
          <a:prstGeom prst="rect">
            <a:avLst/>
          </a:prstGeom>
          <a:noFill/>
          <a:ln w="12700">
            <a:solidFill>
              <a:srgbClr val="2A3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8" name="Picture 37" descr="49_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4418838"/>
            <a:ext cx="3657600" cy="2171700"/>
          </a:xfrm>
          <a:prstGeom prst="rect">
            <a:avLst/>
          </a:prstGeom>
        </p:spPr>
      </p:pic>
      <p:sp>
        <p:nvSpPr>
          <p:cNvPr id="39" name="Rectangle 38"/>
          <p:cNvSpPr/>
          <p:nvPr/>
        </p:nvSpPr>
        <p:spPr>
          <a:xfrm>
            <a:off x="6633971" y="4374490"/>
            <a:ext cx="3739896" cy="2254910"/>
          </a:xfrm>
          <a:prstGeom prst="rect">
            <a:avLst/>
          </a:prstGeom>
          <a:noFill/>
          <a:ln w="12700">
            <a:solidFill>
              <a:srgbClr val="2A3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40" name="Picture 39" descr="51_respaw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19" y="4411979"/>
            <a:ext cx="3657600" cy="217170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658368" y="63550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0" i="0">
                <a:solidFill>
                  <a:srgbClr val="2A353A"/>
                </a:solidFill>
                <a:latin typeface="Calibri"/>
              </a:rPr>
              <a:t>OQIM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424160" y="635508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50" b="0" i="0">
                <a:solidFill>
                  <a:srgbClr val="2A353A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3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03504"/>
            <a:ext cx="91440" cy="91440"/>
          </a:xfrm>
          <a:prstGeom prst="rect">
            <a:avLst/>
          </a:prstGeom>
          <a:solidFill>
            <a:srgbClr val="48A9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475488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DCD3C4"/>
                </a:solidFill>
                <a:latin typeface="Cambria"/>
              </a:rPr>
              <a:t>Interfeys: Temir va Firuza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060704"/>
            <a:ext cx="10881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7C8B8F"/>
                </a:solidFill>
                <a:latin typeface="Calibri"/>
              </a:rPr>
              <a:t>O'ziga xos dizayn tizimi — chapga tekislangan, muharrirona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600200"/>
            <a:ext cx="1024128" cy="658368"/>
          </a:xfrm>
          <a:prstGeom prst="rect">
            <a:avLst/>
          </a:prstGeom>
          <a:solidFill>
            <a:srgbClr val="0E1316"/>
          </a:solidFill>
          <a:ln w="9525">
            <a:solidFill>
              <a:srgbClr val="2A3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2331720"/>
            <a:ext cx="102412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 i="0">
                <a:solidFill>
                  <a:srgbClr val="DCD3C4"/>
                </a:solidFill>
                <a:latin typeface="Calibri"/>
              </a:rPr>
              <a:t>fon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551176"/>
            <a:ext cx="102412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850" b="0" i="0">
                <a:solidFill>
                  <a:srgbClr val="2A353A"/>
                </a:solidFill>
                <a:latin typeface="Calibri"/>
              </a:rPr>
              <a:t>#0E1316</a:t>
            </a:r>
          </a:p>
        </p:txBody>
      </p:sp>
      <p:sp>
        <p:nvSpPr>
          <p:cNvPr id="8" name="Rectangle 7"/>
          <p:cNvSpPr/>
          <p:nvPr/>
        </p:nvSpPr>
        <p:spPr>
          <a:xfrm>
            <a:off x="2039112" y="1600200"/>
            <a:ext cx="1024128" cy="658368"/>
          </a:xfrm>
          <a:prstGeom prst="rect">
            <a:avLst/>
          </a:prstGeom>
          <a:solidFill>
            <a:srgbClr val="161D21"/>
          </a:solidFill>
          <a:ln w="9525">
            <a:solidFill>
              <a:srgbClr val="2A3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039112" y="2331720"/>
            <a:ext cx="102412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 i="0">
                <a:solidFill>
                  <a:srgbClr val="DCD3C4"/>
                </a:solidFill>
                <a:latin typeface="Calibri"/>
              </a:rPr>
              <a:t>panel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39112" y="2551176"/>
            <a:ext cx="102412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850" b="0" i="0">
                <a:solidFill>
                  <a:srgbClr val="2A353A"/>
                </a:solidFill>
                <a:latin typeface="Calibri"/>
              </a:rPr>
              <a:t>#161D21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9544" y="1600200"/>
            <a:ext cx="1024128" cy="658368"/>
          </a:xfrm>
          <a:prstGeom prst="rect">
            <a:avLst/>
          </a:prstGeom>
          <a:solidFill>
            <a:srgbClr val="2A353A"/>
          </a:solidFill>
          <a:ln w="9525">
            <a:solidFill>
              <a:srgbClr val="2A3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09544" y="2331720"/>
            <a:ext cx="102412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 i="0">
                <a:solidFill>
                  <a:srgbClr val="DCD3C4"/>
                </a:solidFill>
                <a:latin typeface="Calibri"/>
              </a:rPr>
              <a:t>chiziq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9544" y="2551176"/>
            <a:ext cx="102412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850" b="0" i="0">
                <a:solidFill>
                  <a:srgbClr val="2A353A"/>
                </a:solidFill>
                <a:latin typeface="Calibri"/>
              </a:rPr>
              <a:t>#2A353A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79976" y="1600200"/>
            <a:ext cx="1024128" cy="658368"/>
          </a:xfrm>
          <a:prstGeom prst="rect">
            <a:avLst/>
          </a:prstGeom>
          <a:solidFill>
            <a:srgbClr val="E4EAEA"/>
          </a:solidFill>
          <a:ln w="9525">
            <a:solidFill>
              <a:srgbClr val="2A3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79976" y="2331720"/>
            <a:ext cx="102412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 i="0">
                <a:solidFill>
                  <a:srgbClr val="DCD3C4"/>
                </a:solidFill>
                <a:latin typeface="Calibri"/>
              </a:rPr>
              <a:t>matn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9976" y="2551176"/>
            <a:ext cx="102412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850" b="0" i="0">
                <a:solidFill>
                  <a:srgbClr val="2A353A"/>
                </a:solidFill>
                <a:latin typeface="Calibri"/>
              </a:rPr>
              <a:t>#E4EAEA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550408" y="1600200"/>
            <a:ext cx="1024128" cy="658368"/>
          </a:xfrm>
          <a:prstGeom prst="rect">
            <a:avLst/>
          </a:prstGeom>
          <a:solidFill>
            <a:srgbClr val="7C8B8F"/>
          </a:solidFill>
          <a:ln w="9525">
            <a:solidFill>
              <a:srgbClr val="2A3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550408" y="2331720"/>
            <a:ext cx="102412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 i="0">
                <a:solidFill>
                  <a:srgbClr val="DCD3C4"/>
                </a:solidFill>
                <a:latin typeface="Calibri"/>
              </a:rPr>
              <a:t>so'nik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50408" y="2551176"/>
            <a:ext cx="102412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850" b="0" i="0">
                <a:solidFill>
                  <a:srgbClr val="2A353A"/>
                </a:solidFill>
                <a:latin typeface="Calibri"/>
              </a:rPr>
              <a:t>#7C8B8F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720840" y="1600200"/>
            <a:ext cx="1024128" cy="658368"/>
          </a:xfrm>
          <a:prstGeom prst="rect">
            <a:avLst/>
          </a:prstGeom>
          <a:solidFill>
            <a:srgbClr val="48A9B5"/>
          </a:solidFill>
          <a:ln w="9525">
            <a:solidFill>
              <a:srgbClr val="2A3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720840" y="2331720"/>
            <a:ext cx="102412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 i="0">
                <a:solidFill>
                  <a:srgbClr val="DCD3C4"/>
                </a:solidFill>
                <a:latin typeface="Calibri"/>
              </a:rPr>
              <a:t>feruza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2551176"/>
            <a:ext cx="102412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850" b="0" i="0">
                <a:solidFill>
                  <a:srgbClr val="2A353A"/>
                </a:solidFill>
                <a:latin typeface="Calibri"/>
              </a:rPr>
              <a:t>#48A9B5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891271" y="1600200"/>
            <a:ext cx="1024128" cy="658368"/>
          </a:xfrm>
          <a:prstGeom prst="rect">
            <a:avLst/>
          </a:prstGeom>
          <a:solidFill>
            <a:srgbClr val="C09660"/>
          </a:solidFill>
          <a:ln w="9525">
            <a:solidFill>
              <a:srgbClr val="2A3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891271" y="2331720"/>
            <a:ext cx="102412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 i="0">
                <a:solidFill>
                  <a:srgbClr val="DCD3C4"/>
                </a:solidFill>
                <a:latin typeface="Calibri"/>
              </a:rPr>
              <a:t>zarhal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91271" y="2551176"/>
            <a:ext cx="102412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850" b="0" i="0">
                <a:solidFill>
                  <a:srgbClr val="2A353A"/>
                </a:solidFill>
                <a:latin typeface="Calibri"/>
              </a:rPr>
              <a:t>#C09660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61704" y="1600200"/>
            <a:ext cx="1024128" cy="658368"/>
          </a:xfrm>
          <a:prstGeom prst="rect">
            <a:avLst/>
          </a:prstGeom>
          <a:solidFill>
            <a:srgbClr val="BC5A44"/>
          </a:solidFill>
          <a:ln w="9525">
            <a:solidFill>
              <a:srgbClr val="2A3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061704" y="2331720"/>
            <a:ext cx="102412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 i="0">
                <a:solidFill>
                  <a:srgbClr val="DCD3C4"/>
                </a:solidFill>
                <a:latin typeface="Calibri"/>
              </a:rPr>
              <a:t>yara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61704" y="2551176"/>
            <a:ext cx="102412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850" b="0" i="0">
                <a:solidFill>
                  <a:srgbClr val="2A353A"/>
                </a:solidFill>
                <a:latin typeface="Calibri"/>
              </a:rPr>
              <a:t>#BC5A44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232136" y="1600200"/>
            <a:ext cx="1024128" cy="658368"/>
          </a:xfrm>
          <a:prstGeom prst="rect">
            <a:avLst/>
          </a:prstGeom>
          <a:solidFill>
            <a:srgbClr val="DCD3C4"/>
          </a:solidFill>
          <a:ln w="9525">
            <a:solidFill>
              <a:srgbClr val="2A3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232136" y="2331720"/>
            <a:ext cx="102412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 i="0">
                <a:solidFill>
                  <a:srgbClr val="DCD3C4"/>
                </a:solidFill>
                <a:latin typeface="Calibri"/>
              </a:rPr>
              <a:t>suyak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32136" y="2551176"/>
            <a:ext cx="102412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850" b="0" i="0">
                <a:solidFill>
                  <a:srgbClr val="2A353A"/>
                </a:solidFill>
                <a:latin typeface="Calibri"/>
              </a:rPr>
              <a:t>#DCD3C4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68680" y="3099815"/>
            <a:ext cx="68580" cy="68580"/>
          </a:xfrm>
          <a:prstGeom prst="rect">
            <a:avLst/>
          </a:prstGeom>
          <a:solidFill>
            <a:srgbClr val="48A9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69848" y="3017520"/>
            <a:ext cx="546811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 i="0">
                <a:solidFill>
                  <a:srgbClr val="C09660"/>
                </a:solidFill>
                <a:latin typeface="Calibri"/>
              </a:rPr>
              <a:t>Kichik kvadrat.  </a:t>
            </a:r>
            <a:r>
              <a:rPr sz="1300" b="0" i="0">
                <a:solidFill>
                  <a:srgbClr val="E4EAEA"/>
                </a:solidFill>
                <a:latin typeface="Calibri"/>
              </a:rPr>
              <a:t>Butun interfeysning yagona motivi — 'mix boshi'.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68680" y="3648456"/>
            <a:ext cx="68580" cy="68580"/>
          </a:xfrm>
          <a:prstGeom prst="rect">
            <a:avLst/>
          </a:prstGeom>
          <a:solidFill>
            <a:srgbClr val="48A9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69848" y="3566160"/>
            <a:ext cx="546811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 i="0">
                <a:solidFill>
                  <a:srgbClr val="C09660"/>
                </a:solidFill>
                <a:latin typeface="Calibri"/>
              </a:rPr>
              <a:t>Feruza = tanlash.  </a:t>
            </a:r>
            <a:r>
              <a:rPr sz="1300" b="0" i="0">
                <a:solidFill>
                  <a:srgbClr val="E4EAEA"/>
                </a:solidFill>
                <a:latin typeface="Calibri"/>
              </a:rPr>
              <a:t>Zarhal = qiymat. Yara = xavf. Boshqa rang yo'q.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68680" y="4197096"/>
            <a:ext cx="68580" cy="68580"/>
          </a:xfrm>
          <a:prstGeom prst="rect">
            <a:avLst/>
          </a:prstGeom>
          <a:solidFill>
            <a:srgbClr val="48A9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69848" y="4114800"/>
            <a:ext cx="546811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 i="0">
                <a:solidFill>
                  <a:srgbClr val="C09660"/>
                </a:solidFill>
                <a:latin typeface="Calibri"/>
              </a:rPr>
              <a:t>Klavish qayta biriktirish.  </a:t>
            </a:r>
            <a:r>
              <a:rPr sz="1300" b="0" i="0">
                <a:solidFill>
                  <a:srgbClr val="E4EAEA"/>
                </a:solidFill>
                <a:latin typeface="Calibri"/>
              </a:rPr>
              <a:t>Har harakat ustiga bosing va yangi klavishni bosing — sozlamalar bosilgan klavish NOMINI ko'rsatadi.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68680" y="4745736"/>
            <a:ext cx="68580" cy="68580"/>
          </a:xfrm>
          <a:prstGeom prst="rect">
            <a:avLst/>
          </a:prstGeom>
          <a:solidFill>
            <a:srgbClr val="48A9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069848" y="4663440"/>
            <a:ext cx="546811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 i="0">
                <a:solidFill>
                  <a:srgbClr val="C09660"/>
                </a:solidFill>
                <a:latin typeface="Calibri"/>
              </a:rPr>
              <a:t>Uch til.  </a:t>
            </a:r>
            <a:r>
              <a:rPr sz="1300" b="0" i="0">
                <a:solidFill>
                  <a:srgbClr val="E4EAEA"/>
                </a:solidFill>
                <a:latin typeface="Calibri"/>
              </a:rPr>
              <a:t>Menyu, HUD, subtitr va epizod nomlari — hammasi tarjima qilingan.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816852" y="2930652"/>
            <a:ext cx="4517136" cy="2716590"/>
          </a:xfrm>
          <a:prstGeom prst="rect">
            <a:avLst/>
          </a:prstGeom>
          <a:noFill/>
          <a:ln w="12700">
            <a:solidFill>
              <a:srgbClr val="2A3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41" name="Picture 40" descr="05_sett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2971800"/>
            <a:ext cx="4434840" cy="2633186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658368" y="63550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0" i="0">
                <a:solidFill>
                  <a:srgbClr val="2A353A"/>
                </a:solidFill>
                <a:latin typeface="Calibri"/>
              </a:rPr>
              <a:t>INTERFEYS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424160" y="635508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50" b="0" i="0">
                <a:solidFill>
                  <a:srgbClr val="2A353A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3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03504"/>
            <a:ext cx="91440" cy="91440"/>
          </a:xfrm>
          <a:prstGeom prst="rect">
            <a:avLst/>
          </a:prstGeom>
          <a:solidFill>
            <a:srgbClr val="48A9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475488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DCD3C4"/>
                </a:solidFill>
                <a:latin typeface="Cambria"/>
              </a:rPr>
              <a:t>Audio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060704"/>
            <a:ext cx="10881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7C8B8F"/>
                </a:solidFill>
                <a:latin typeface="Calibri"/>
              </a:rPr>
              <a:t>912 ta ovozli replika + 9 ta protsedural jang tovushi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600200"/>
            <a:ext cx="5029200" cy="1645920"/>
          </a:xfrm>
          <a:prstGeom prst="rect">
            <a:avLst/>
          </a:prstGeom>
          <a:solidFill>
            <a:srgbClr val="161D21"/>
          </a:solidFill>
          <a:ln w="9525">
            <a:solidFill>
              <a:srgbClr val="2A3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69848" y="1837943"/>
            <a:ext cx="68580" cy="68580"/>
          </a:xfrm>
          <a:prstGeom prst="rect">
            <a:avLst/>
          </a:prstGeom>
          <a:solidFill>
            <a:srgbClr val="48A9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52728" y="1764792"/>
            <a:ext cx="446227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C09660"/>
                </a:solidFill>
                <a:latin typeface="Cambria"/>
              </a:rPr>
              <a:t>Ovozli replikalar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2167128"/>
            <a:ext cx="4626864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600"/>
              </a:spcAft>
            </a:pPr>
            <a:r>
              <a:rPr sz="1200" b="0" i="0">
                <a:solidFill>
                  <a:srgbClr val="E4EAEA"/>
                </a:solidFill>
                <a:latin typeface="Calibri"/>
              </a:rPr>
              <a:t>Har uch til uchun 309 tadan WAV — jami 912. PowerShell System.Speech bilan oldindan yaratilgan, o'yin ichida SAPI zaxira yo'li ham bor. Cutscene subtitri bilan aniq sinxron.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600200"/>
            <a:ext cx="5029200" cy="1645920"/>
          </a:xfrm>
          <a:prstGeom prst="rect">
            <a:avLst/>
          </a:prstGeom>
          <a:solidFill>
            <a:srgbClr val="161D21"/>
          </a:solidFill>
          <a:ln w="9525">
            <a:solidFill>
              <a:srgbClr val="2A3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64807" y="1837943"/>
            <a:ext cx="68580" cy="68580"/>
          </a:xfrm>
          <a:prstGeom prst="rect">
            <a:avLst/>
          </a:prstGeom>
          <a:solidFill>
            <a:srgbClr val="48A9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47688" y="1764792"/>
            <a:ext cx="446227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48A9B5"/>
                </a:solidFill>
                <a:latin typeface="Cambria"/>
              </a:rPr>
              <a:t>Aralashtirgich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4807" y="2167128"/>
            <a:ext cx="4626864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600"/>
              </a:spcAft>
            </a:pPr>
            <a:r>
              <a:rPr sz="1200" b="0" i="0">
                <a:solidFill>
                  <a:srgbClr val="E4EAEA"/>
                </a:solidFill>
                <a:latin typeface="Calibri"/>
              </a:rPr>
              <a:t>waveOut asosidagi o'z mikseri: 5 shina (master, musiqa, effekt, ovoz, muhit). Tashqi kutubxona yo'q. Sozlamalarda har shina alohida boshqariladi.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447288"/>
            <a:ext cx="10424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DCD3C4"/>
                </a:solidFill>
                <a:latin typeface="Cambria"/>
              </a:rPr>
              <a:t>Jang tovushlari — protsedural sintez, tovush fayli yo'q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" y="3867912"/>
            <a:ext cx="10424160" cy="420624"/>
          </a:xfrm>
          <a:prstGeom prst="rect">
            <a:avLst/>
          </a:prstGeom>
          <a:solidFill>
            <a:srgbClr val="161D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097280" y="4032504"/>
            <a:ext cx="68580" cy="68580"/>
          </a:xfrm>
          <a:prstGeom prst="rect">
            <a:avLst/>
          </a:prstGeom>
          <a:solidFill>
            <a:srgbClr val="48A9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298448" y="3968496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DCD3C4"/>
                </a:solidFill>
                <a:latin typeface="Calibri"/>
              </a:rPr>
              <a:t>O'lim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3968496"/>
            <a:ext cx="61264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E4EAEA"/>
                </a:solidFill>
                <a:latin typeface="Calibri"/>
              </a:rPr>
              <a:t>past pasayuvchi sinus + shovqin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0" y="3968496"/>
            <a:ext cx="1691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50" b="1" i="0">
                <a:solidFill>
                  <a:srgbClr val="C09660"/>
                </a:solidFill>
                <a:latin typeface="Calibri"/>
              </a:rPr>
              <a:t>1108 Gts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8680" y="4325112"/>
            <a:ext cx="10424160" cy="420624"/>
          </a:xfrm>
          <a:prstGeom prst="rect">
            <a:avLst/>
          </a:prstGeom>
          <a:solidFill>
            <a:srgbClr val="1B2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097280" y="4489704"/>
            <a:ext cx="68580" cy="68580"/>
          </a:xfrm>
          <a:prstGeom prst="rect">
            <a:avLst/>
          </a:prstGeom>
          <a:solidFill>
            <a:srgbClr val="48A9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298448" y="4425696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DCD3C4"/>
                </a:solidFill>
                <a:latin typeface="Calibri"/>
              </a:rPr>
              <a:t>Zarba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46120" y="4425696"/>
            <a:ext cx="61264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E4EAEA"/>
                </a:solidFill>
                <a:latin typeface="Calibri"/>
              </a:rPr>
              <a:t>190-&gt;72 Gts + quruq shovqin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0" y="4425696"/>
            <a:ext cx="1691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50" b="1" i="0">
                <a:solidFill>
                  <a:srgbClr val="C09660"/>
                </a:solidFill>
                <a:latin typeface="Calibri"/>
              </a:rPr>
              <a:t>1922 Gts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68680" y="4782312"/>
            <a:ext cx="10424160" cy="420624"/>
          </a:xfrm>
          <a:prstGeom prst="rect">
            <a:avLst/>
          </a:prstGeom>
          <a:solidFill>
            <a:srgbClr val="161D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1097280" y="4946904"/>
            <a:ext cx="68580" cy="68580"/>
          </a:xfrm>
          <a:prstGeom prst="rect">
            <a:avLst/>
          </a:prstGeom>
          <a:solidFill>
            <a:srgbClr val="48A9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298448" y="4882896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DCD3C4"/>
                </a:solidFill>
                <a:latin typeface="Calibri"/>
              </a:rPr>
              <a:t>Qalqon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46120" y="4882896"/>
            <a:ext cx="61264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E4EAEA"/>
                </a:solidFill>
                <a:latin typeface="Calibri"/>
              </a:rPr>
              <a:t>garmonik BO'LMAGAN qismlar 1 : 1.52 : 2.14 : 2.84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09760" y="4882896"/>
            <a:ext cx="1691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50" b="1" i="0">
                <a:solidFill>
                  <a:srgbClr val="C09660"/>
                </a:solidFill>
                <a:latin typeface="Calibri"/>
              </a:rPr>
              <a:t>2227 Gts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8680" y="5239512"/>
            <a:ext cx="10424160" cy="420624"/>
          </a:xfrm>
          <a:prstGeom prst="rect">
            <a:avLst/>
          </a:prstGeom>
          <a:solidFill>
            <a:srgbClr val="1B2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1097280" y="5404104"/>
            <a:ext cx="68580" cy="68580"/>
          </a:xfrm>
          <a:prstGeom prst="rect">
            <a:avLst/>
          </a:prstGeom>
          <a:solidFill>
            <a:srgbClr val="48A9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298448" y="5340096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DCD3C4"/>
                </a:solidFill>
                <a:latin typeface="Calibri"/>
              </a:rPr>
              <a:t>Parry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46120" y="5340096"/>
            <a:ext cx="61264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E4EAEA"/>
                </a:solidFill>
                <a:latin typeface="Calibri"/>
              </a:rPr>
              <a:t>o'sha nisbat, yuqoriroq va uzunroq ring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09760" y="5340096"/>
            <a:ext cx="1691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50" b="1" i="0">
                <a:solidFill>
                  <a:srgbClr val="C09660"/>
                </a:solidFill>
                <a:latin typeface="Calibri"/>
              </a:rPr>
              <a:t>3291 Gts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68680" y="5696712"/>
            <a:ext cx="10424160" cy="420624"/>
          </a:xfrm>
          <a:prstGeom prst="rect">
            <a:avLst/>
          </a:prstGeom>
          <a:solidFill>
            <a:srgbClr val="161D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1097280" y="5861304"/>
            <a:ext cx="68580" cy="68580"/>
          </a:xfrm>
          <a:prstGeom prst="rect">
            <a:avLst/>
          </a:prstGeom>
          <a:solidFill>
            <a:srgbClr val="48A9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298448" y="5797296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DCD3C4"/>
                </a:solidFill>
                <a:latin typeface="Calibri"/>
              </a:rPr>
              <a:t>Qilich yoyi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46120" y="5797296"/>
            <a:ext cx="61264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E4EAEA"/>
                </a:solidFill>
                <a:latin typeface="Calibri"/>
              </a:rPr>
              <a:t>o'rtada ochiladigan filtr + qo'ng'iroq konvert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09760" y="5797296"/>
            <a:ext cx="1691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50" b="1" i="0">
                <a:solidFill>
                  <a:srgbClr val="C09660"/>
                </a:solidFill>
                <a:latin typeface="Calibri"/>
              </a:rPr>
              <a:t>3524 Gts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8680" y="6245352"/>
            <a:ext cx="10424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150" b="0" i="0">
                <a:solidFill>
                  <a:srgbClr val="7C8B8F"/>
                </a:solidFill>
                <a:latin typeface="Calibri"/>
              </a:rPr>
              <a:t>Metall jarangi BUTUN SONLI BO'LMAGAN nisbatdan chiqadi — garmonik qismlar 'musiqiy' eshitiladi va zarbaga o'xshamaydi.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3550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0" i="0">
                <a:solidFill>
                  <a:srgbClr val="2A353A"/>
                </a:solidFill>
                <a:latin typeface="Calibri"/>
              </a:rPr>
              <a:t>AUDIO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424160" y="635508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50" b="0" i="0">
                <a:solidFill>
                  <a:srgbClr val="2A353A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3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03504"/>
            <a:ext cx="91440" cy="91440"/>
          </a:xfrm>
          <a:prstGeom prst="rect">
            <a:avLst/>
          </a:prstGeom>
          <a:solidFill>
            <a:srgbClr val="48A9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475488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DCD3C4"/>
                </a:solidFill>
                <a:latin typeface="Cambria"/>
              </a:rPr>
              <a:t>Texnologiya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060704"/>
            <a:ext cx="10881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7C8B8F"/>
                </a:solidFill>
                <a:latin typeface="Calibri"/>
              </a:rPr>
              <a:t>O'z dvigateli — tashqi kutubxona nol 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600200"/>
            <a:ext cx="5120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C09660"/>
                </a:solidFill>
                <a:latin typeface="Cambria"/>
              </a:rPr>
              <a:t>Nima ishlatiladi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2011680"/>
            <a:ext cx="5029200" cy="457200"/>
          </a:xfrm>
          <a:prstGeom prst="rect">
            <a:avLst/>
          </a:prstGeom>
          <a:solidFill>
            <a:srgbClr val="161D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8992" y="2130552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48A9B5"/>
                </a:solidFill>
                <a:latin typeface="Calibri"/>
              </a:rPr>
              <a:t>Til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2130552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E4EAEA"/>
                </a:solidFill>
                <a:latin typeface="Calibri"/>
              </a:rPr>
              <a:t>C++20, MinGW-w64 g++ 16.1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2514600"/>
            <a:ext cx="5029200" cy="457200"/>
          </a:xfrm>
          <a:prstGeom prst="rect">
            <a:avLst/>
          </a:prstGeom>
          <a:solidFill>
            <a:srgbClr val="161D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78992" y="2633472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48A9B5"/>
                </a:solidFill>
                <a:latin typeface="Calibri"/>
              </a:rPr>
              <a:t>Grafika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2633472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E4EAEA"/>
                </a:solidFill>
                <a:latin typeface="Calibri"/>
              </a:rPr>
              <a:t>Win32 + fixed-function OpenGL 1.1 + GLU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3017520"/>
            <a:ext cx="5029200" cy="457200"/>
          </a:xfrm>
          <a:prstGeom prst="rect">
            <a:avLst/>
          </a:prstGeom>
          <a:solidFill>
            <a:srgbClr val="161D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78992" y="3136391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48A9B5"/>
                </a:solidFill>
                <a:latin typeface="Calibri"/>
              </a:rPr>
              <a:t>Yig'ish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3136391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E4EAEA"/>
                </a:solidFill>
                <a:latin typeface="Calibri"/>
              </a:rPr>
              <a:t>CMake + Ninja, 25 nishon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" y="3520439"/>
            <a:ext cx="5029200" cy="457200"/>
          </a:xfrm>
          <a:prstGeom prst="rect">
            <a:avLst/>
          </a:prstGeom>
          <a:solidFill>
            <a:srgbClr val="161D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78992" y="3639311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48A9B5"/>
                </a:solidFill>
                <a:latin typeface="Calibri"/>
              </a:rPr>
              <a:t>Rasm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3639311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E4EAEA"/>
                </a:solidFill>
                <a:latin typeface="Calibri"/>
              </a:rPr>
              <a:t>GDI+ dekod -&gt; GL teksturalari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8680" y="4023359"/>
            <a:ext cx="5029200" cy="457200"/>
          </a:xfrm>
          <a:prstGeom prst="rect">
            <a:avLst/>
          </a:prstGeom>
          <a:solidFill>
            <a:srgbClr val="161D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78992" y="4142231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48A9B5"/>
                </a:solidFill>
                <a:latin typeface="Calibri"/>
              </a:rPr>
              <a:t>Shrift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34640" y="4142231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E4EAEA"/>
                </a:solidFill>
                <a:latin typeface="Calibri"/>
              </a:rPr>
              <a:t>GDI glif atlasi (UTF-8, uz/tr belgilari)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68680" y="4526279"/>
            <a:ext cx="5029200" cy="457200"/>
          </a:xfrm>
          <a:prstGeom prst="rect">
            <a:avLst/>
          </a:prstGeom>
          <a:solidFill>
            <a:srgbClr val="161D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78992" y="4645151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48A9B5"/>
                </a:solidFill>
                <a:latin typeface="Calibri"/>
              </a:rPr>
              <a:t>Ovoz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34640" y="4645151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E4EAEA"/>
                </a:solidFill>
                <a:latin typeface="Calibri"/>
              </a:rPr>
              <a:t>waveOut mikser + SAPI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1600200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7C8B8F"/>
                </a:solidFill>
                <a:latin typeface="Cambria"/>
              </a:rPr>
              <a:t>Nima ishlatilmaydi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3640" y="2011680"/>
            <a:ext cx="5029200" cy="457200"/>
          </a:xfrm>
          <a:prstGeom prst="rect">
            <a:avLst/>
          </a:prstGeom>
          <a:solidFill>
            <a:srgbClr val="161D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73952" y="2130552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DCD3C4"/>
                </a:solidFill>
                <a:latin typeface="Calibri"/>
              </a:rPr>
              <a:t>GLFW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15400" y="2130552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BC5A44"/>
                </a:solidFill>
                <a:latin typeface="Calibri"/>
              </a:rPr>
              <a:t>yo'q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63640" y="2514600"/>
            <a:ext cx="5029200" cy="457200"/>
          </a:xfrm>
          <a:prstGeom prst="rect">
            <a:avLst/>
          </a:prstGeom>
          <a:solidFill>
            <a:srgbClr val="161D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73952" y="2633472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DCD3C4"/>
                </a:solidFill>
                <a:latin typeface="Calibri"/>
              </a:rPr>
              <a:t>GLM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15400" y="2633472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BC5A44"/>
                </a:solidFill>
                <a:latin typeface="Calibri"/>
              </a:rPr>
              <a:t>yo'q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63640" y="3017520"/>
            <a:ext cx="5029200" cy="457200"/>
          </a:xfrm>
          <a:prstGeom prst="rect">
            <a:avLst/>
          </a:prstGeom>
          <a:solidFill>
            <a:srgbClr val="161D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73952" y="3136391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DCD3C4"/>
                </a:solidFill>
                <a:latin typeface="Calibri"/>
              </a:rPr>
              <a:t>tinyobjloader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15400" y="3136391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BC5A44"/>
                </a:solidFill>
                <a:latin typeface="Calibri"/>
              </a:rPr>
              <a:t>yo'q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63640" y="3520439"/>
            <a:ext cx="5029200" cy="457200"/>
          </a:xfrm>
          <a:prstGeom prst="rect">
            <a:avLst/>
          </a:prstGeom>
          <a:solidFill>
            <a:srgbClr val="161D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73952" y="3639311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DCD3C4"/>
                </a:solidFill>
                <a:latin typeface="Calibri"/>
              </a:rPr>
              <a:t>Shader / VBO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15400" y="3639311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BC5A44"/>
                </a:solidFill>
                <a:latin typeface="Calibri"/>
              </a:rPr>
              <a:t>yo'q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63640" y="4023359"/>
            <a:ext cx="5029200" cy="457200"/>
          </a:xfrm>
          <a:prstGeom prst="rect">
            <a:avLst/>
          </a:prstGeom>
          <a:solidFill>
            <a:srgbClr val="161D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73952" y="4142231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DCD3C4"/>
                </a:solidFill>
                <a:latin typeface="Calibri"/>
              </a:rPr>
              <a:t>Fizika dvigateli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15400" y="4142231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BC5A44"/>
                </a:solidFill>
                <a:latin typeface="Calibri"/>
              </a:rPr>
              <a:t>yo'q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63640" y="4526279"/>
            <a:ext cx="5029200" cy="457200"/>
          </a:xfrm>
          <a:prstGeom prst="rect">
            <a:avLst/>
          </a:prstGeom>
          <a:solidFill>
            <a:srgbClr val="161D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473952" y="4645151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DCD3C4"/>
                </a:solidFill>
                <a:latin typeface="Calibri"/>
              </a:rPr>
              <a:t>nlohmann/json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15400" y="4645151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7C8B8F"/>
                </a:solidFill>
                <a:latin typeface="Calibri"/>
              </a:rPr>
              <a:t>yagona bundle qilingan header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68680" y="5166360"/>
            <a:ext cx="10424160" cy="960120"/>
          </a:xfrm>
          <a:prstGeom prst="rect">
            <a:avLst/>
          </a:prstGeom>
          <a:solidFill>
            <a:srgbClr val="1B2428"/>
          </a:solidFill>
          <a:ln w="9525">
            <a:solidFill>
              <a:srgbClr val="2A3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143000" y="5349240"/>
            <a:ext cx="98755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250" b="1" i="0">
                <a:solidFill>
                  <a:srgbClr val="C09660"/>
                </a:solidFill>
                <a:latin typeface="Calibri"/>
              </a:rPr>
              <a:t>Modellar statik .obj — skelet yo'q.</a:t>
            </a:r>
            <a:r>
              <a:rPr sz="1250" b="0" i="0">
                <a:solidFill>
                  <a:srgbClr val="E4EAEA"/>
                </a:solidFill>
                <a:latin typeface="Calibri"/>
              </a:rPr>
              <a:t>  Skin.cpp chegara qutisi bo'yicha 12 ta virtual suyakka avtomatik rigging qiladi va 30 Gts da CPU da skinlaydi. Bo'yin balandligi meshdan o'lchanadi, 36 ta animatsiya protsedural poza funksiyalari bilan quriladi.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" y="63550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0" i="0">
                <a:solidFill>
                  <a:srgbClr val="2A353A"/>
                </a:solidFill>
                <a:latin typeface="Calibri"/>
              </a:rPr>
              <a:t>TEXNOLOGIYA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424160" y="635508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50" b="0" i="0">
                <a:solidFill>
                  <a:srgbClr val="2A353A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3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03504"/>
            <a:ext cx="91440" cy="91440"/>
          </a:xfrm>
          <a:prstGeom prst="rect">
            <a:avLst/>
          </a:prstGeom>
          <a:solidFill>
            <a:srgbClr val="48A9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475488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DCD3C4"/>
                </a:solidFill>
                <a:latin typeface="Cambria"/>
              </a:rPr>
              <a:t>Raqamlar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060704"/>
            <a:ext cx="10881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7C8B8F"/>
                </a:solidFill>
                <a:latin typeface="Calibri"/>
              </a:rPr>
              <a:t>Loyihaning hozirgi holati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600200"/>
            <a:ext cx="1591056" cy="1298448"/>
          </a:xfrm>
          <a:prstGeom prst="rect">
            <a:avLst/>
          </a:prstGeom>
          <a:solidFill>
            <a:srgbClr val="161D21"/>
          </a:solidFill>
          <a:ln w="9525">
            <a:solidFill>
              <a:srgbClr val="2A3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856232"/>
            <a:ext cx="159105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1" i="0">
                <a:solidFill>
                  <a:srgbClr val="C09660"/>
                </a:solidFill>
                <a:latin typeface="Cambria"/>
              </a:rPr>
              <a:t>19 528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441448"/>
            <a:ext cx="159105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050" b="0" i="0">
                <a:solidFill>
                  <a:srgbClr val="7C8B8F"/>
                </a:solidFill>
                <a:latin typeface="Calibri"/>
              </a:rPr>
              <a:t>qator C++</a:t>
            </a:r>
          </a:p>
        </p:txBody>
      </p:sp>
      <p:sp>
        <p:nvSpPr>
          <p:cNvPr id="8" name="Rectangle 7"/>
          <p:cNvSpPr/>
          <p:nvPr/>
        </p:nvSpPr>
        <p:spPr>
          <a:xfrm>
            <a:off x="2624328" y="1600200"/>
            <a:ext cx="1591056" cy="1298448"/>
          </a:xfrm>
          <a:prstGeom prst="rect">
            <a:avLst/>
          </a:prstGeom>
          <a:solidFill>
            <a:srgbClr val="161D21"/>
          </a:solidFill>
          <a:ln w="9525">
            <a:solidFill>
              <a:srgbClr val="2A3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624328" y="1856232"/>
            <a:ext cx="159105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1" i="0">
                <a:solidFill>
                  <a:srgbClr val="48A9B5"/>
                </a:solidFill>
                <a:latin typeface="Cambria"/>
              </a:rPr>
              <a:t>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24328" y="2441448"/>
            <a:ext cx="159105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050" b="0" i="0">
                <a:solidFill>
                  <a:srgbClr val="7C8B8F"/>
                </a:solidFill>
                <a:latin typeface="Calibri"/>
              </a:rPr>
              <a:t>manba fayli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79976" y="1600200"/>
            <a:ext cx="1591056" cy="1298448"/>
          </a:xfrm>
          <a:prstGeom prst="rect">
            <a:avLst/>
          </a:prstGeom>
          <a:solidFill>
            <a:srgbClr val="161D21"/>
          </a:solidFill>
          <a:ln w="9525">
            <a:solidFill>
              <a:srgbClr val="2A3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79976" y="1856232"/>
            <a:ext cx="159105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1" i="0">
                <a:solidFill>
                  <a:srgbClr val="C09660"/>
                </a:solidFill>
                <a:latin typeface="Cambria"/>
              </a:rPr>
              <a:t>48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79976" y="2441448"/>
            <a:ext cx="159105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050" b="0" i="0">
                <a:solidFill>
                  <a:srgbClr val="7C8B8F"/>
                </a:solidFill>
                <a:latin typeface="Calibri"/>
              </a:rPr>
              <a:t>epizod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35624" y="1600200"/>
            <a:ext cx="1591056" cy="1298448"/>
          </a:xfrm>
          <a:prstGeom prst="rect">
            <a:avLst/>
          </a:prstGeom>
          <a:solidFill>
            <a:srgbClr val="161D21"/>
          </a:solidFill>
          <a:ln w="9525">
            <a:solidFill>
              <a:srgbClr val="2A3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135624" y="1856232"/>
            <a:ext cx="159105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1" i="0">
                <a:solidFill>
                  <a:srgbClr val="48A9B5"/>
                </a:solidFill>
                <a:latin typeface="Cambria"/>
              </a:rPr>
              <a:t>48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35624" y="2441448"/>
            <a:ext cx="159105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050" b="0" i="0">
                <a:solidFill>
                  <a:srgbClr val="7C8B8F"/>
                </a:solidFill>
                <a:latin typeface="Calibri"/>
              </a:rPr>
              <a:t>cutscene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91271" y="1600200"/>
            <a:ext cx="1591056" cy="1298448"/>
          </a:xfrm>
          <a:prstGeom prst="rect">
            <a:avLst/>
          </a:prstGeom>
          <a:solidFill>
            <a:srgbClr val="161D21"/>
          </a:solidFill>
          <a:ln w="9525">
            <a:solidFill>
              <a:srgbClr val="2A3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891271" y="1856232"/>
            <a:ext cx="159105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1" i="0">
                <a:solidFill>
                  <a:srgbClr val="C09660"/>
                </a:solidFill>
                <a:latin typeface="Cambria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91271" y="2441448"/>
            <a:ext cx="159105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050" b="0" i="0">
                <a:solidFill>
                  <a:srgbClr val="7C8B8F"/>
                </a:solidFill>
                <a:latin typeface="Calibri"/>
              </a:rPr>
              <a:t>daraja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646919" y="1600200"/>
            <a:ext cx="1591056" cy="1298448"/>
          </a:xfrm>
          <a:prstGeom prst="rect">
            <a:avLst/>
          </a:prstGeom>
          <a:solidFill>
            <a:srgbClr val="161D21"/>
          </a:solidFill>
          <a:ln w="9525">
            <a:solidFill>
              <a:srgbClr val="2A3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646919" y="1856232"/>
            <a:ext cx="159105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1" i="0">
                <a:solidFill>
                  <a:srgbClr val="48A9B5"/>
                </a:solidFill>
                <a:latin typeface="Cambria"/>
              </a:rPr>
              <a:t>921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46919" y="2441448"/>
            <a:ext cx="159105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050" b="0" i="0">
                <a:solidFill>
                  <a:srgbClr val="7C8B8F"/>
                </a:solidFill>
                <a:latin typeface="Calibri"/>
              </a:rPr>
              <a:t>audio fayl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8680" y="3108960"/>
            <a:ext cx="1591056" cy="1298448"/>
          </a:xfrm>
          <a:prstGeom prst="rect">
            <a:avLst/>
          </a:prstGeom>
          <a:solidFill>
            <a:srgbClr val="161D21"/>
          </a:solidFill>
          <a:ln w="9525">
            <a:solidFill>
              <a:srgbClr val="2A3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68680" y="3364991"/>
            <a:ext cx="159105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1" i="0">
                <a:solidFill>
                  <a:srgbClr val="C09660"/>
                </a:solidFill>
                <a:latin typeface="Cambria"/>
              </a:rPr>
              <a:t>928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3950208"/>
            <a:ext cx="159105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050" b="0" i="0">
                <a:solidFill>
                  <a:srgbClr val="7C8B8F"/>
                </a:solidFill>
                <a:latin typeface="Calibri"/>
              </a:rPr>
              <a:t>tarjima kaliti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624328" y="3108960"/>
            <a:ext cx="1591056" cy="1298448"/>
          </a:xfrm>
          <a:prstGeom prst="rect">
            <a:avLst/>
          </a:prstGeom>
          <a:solidFill>
            <a:srgbClr val="161D21"/>
          </a:solidFill>
          <a:ln w="9525">
            <a:solidFill>
              <a:srgbClr val="2A3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624328" y="3364991"/>
            <a:ext cx="159105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1" i="0">
                <a:solidFill>
                  <a:srgbClr val="48A9B5"/>
                </a:solidFill>
                <a:latin typeface="Cambria"/>
              </a:rPr>
              <a:t>36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24328" y="3950208"/>
            <a:ext cx="159105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050" b="0" i="0">
                <a:solidFill>
                  <a:srgbClr val="7C8B8F"/>
                </a:solidFill>
                <a:latin typeface="Calibri"/>
              </a:rPr>
              <a:t>animatsiya klipi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79976" y="3108960"/>
            <a:ext cx="1591056" cy="1298448"/>
          </a:xfrm>
          <a:prstGeom prst="rect">
            <a:avLst/>
          </a:prstGeom>
          <a:solidFill>
            <a:srgbClr val="161D21"/>
          </a:solidFill>
          <a:ln w="9525">
            <a:solidFill>
              <a:srgbClr val="2A3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379976" y="3364991"/>
            <a:ext cx="159105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1" i="0">
                <a:solidFill>
                  <a:srgbClr val="C09660"/>
                </a:solidFill>
                <a:latin typeface="Cambria"/>
              </a:rPr>
              <a:t>31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79976" y="3950208"/>
            <a:ext cx="159105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050" b="0" i="0">
                <a:solidFill>
                  <a:srgbClr val="7C8B8F"/>
                </a:solidFill>
                <a:latin typeface="Calibri"/>
              </a:rPr>
              <a:t>harakat holati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35624" y="3108960"/>
            <a:ext cx="1591056" cy="1298448"/>
          </a:xfrm>
          <a:prstGeom prst="rect">
            <a:avLst/>
          </a:prstGeom>
          <a:solidFill>
            <a:srgbClr val="161D21"/>
          </a:solidFill>
          <a:ln w="9525">
            <a:solidFill>
              <a:srgbClr val="2A3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135624" y="3364991"/>
            <a:ext cx="159105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1" i="0">
                <a:solidFill>
                  <a:srgbClr val="48A9B5"/>
                </a:solidFill>
                <a:latin typeface="Cambria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35624" y="3950208"/>
            <a:ext cx="159105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050" b="0" i="0">
                <a:solidFill>
                  <a:srgbClr val="7C8B8F"/>
                </a:solidFill>
                <a:latin typeface="Calibri"/>
              </a:rPr>
              <a:t>dushman turi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891271" y="3108960"/>
            <a:ext cx="1591056" cy="1298448"/>
          </a:xfrm>
          <a:prstGeom prst="rect">
            <a:avLst/>
          </a:prstGeom>
          <a:solidFill>
            <a:srgbClr val="161D21"/>
          </a:solidFill>
          <a:ln w="9525">
            <a:solidFill>
              <a:srgbClr val="2A3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891271" y="3364991"/>
            <a:ext cx="159105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1" i="0">
                <a:solidFill>
                  <a:srgbClr val="C09660"/>
                </a:solidFill>
                <a:latin typeface="Cambria"/>
              </a:rPr>
              <a:t>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91271" y="3950208"/>
            <a:ext cx="159105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050" b="0" i="0">
                <a:solidFill>
                  <a:srgbClr val="7C8B8F"/>
                </a:solidFill>
                <a:latin typeface="Calibri"/>
              </a:rPr>
              <a:t>epizod arxetipi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646919" y="3108960"/>
            <a:ext cx="1591056" cy="1298448"/>
          </a:xfrm>
          <a:prstGeom prst="rect">
            <a:avLst/>
          </a:prstGeom>
          <a:solidFill>
            <a:srgbClr val="161D21"/>
          </a:solidFill>
          <a:ln w="9525">
            <a:solidFill>
              <a:srgbClr val="2A3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646919" y="3364991"/>
            <a:ext cx="159105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1" i="0">
                <a:solidFill>
                  <a:srgbClr val="48A9B5"/>
                </a:solidFill>
                <a:latin typeface="Cambria"/>
              </a:rPr>
              <a:t>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46919" y="3950208"/>
            <a:ext cx="159105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050" b="0" i="0">
                <a:solidFill>
                  <a:srgbClr val="7C8B8F"/>
                </a:solidFill>
                <a:latin typeface="Calibri"/>
              </a:rPr>
              <a:t>til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68680" y="4846320"/>
            <a:ext cx="10424160" cy="868680"/>
          </a:xfrm>
          <a:prstGeom prst="rect">
            <a:avLst/>
          </a:prstGeom>
          <a:solidFill>
            <a:srgbClr val="1B2428"/>
          </a:solidFill>
          <a:ln w="12700">
            <a:solidFill>
              <a:srgbClr val="48A9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143000" y="5020056"/>
            <a:ext cx="98755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300" b="1" i="0">
                <a:solidFill>
                  <a:srgbClr val="48A9B5"/>
                </a:solidFill>
                <a:latin typeface="Calibri"/>
              </a:rPr>
              <a:t>Sifat holati.</a:t>
            </a:r>
            <a:r>
              <a:rPr sz="1300" b="0" i="0">
                <a:solidFill>
                  <a:srgbClr val="E4EAEA"/>
                </a:solidFill>
                <a:latin typeface="Calibri"/>
              </a:rPr>
              <a:t>  Toza yig'ilish: 25/25 nishon, 0 xato, 0 ogohlantirish. Kontent tekshiruvi: 928 kalitdan 0 tasi topilmagan, 921 audio fayl joyida. Oyoq sirg'alishi: SLIP 0.0% (mezon 3%).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550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0" i="0">
                <a:solidFill>
                  <a:srgbClr val="2A353A"/>
                </a:solidFill>
                <a:latin typeface="Calibri"/>
              </a:rPr>
              <a:t>HOLAT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424160" y="635508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50" b="0" i="0">
                <a:solidFill>
                  <a:srgbClr val="2A353A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3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03504"/>
            <a:ext cx="91440" cy="91440"/>
          </a:xfrm>
          <a:prstGeom prst="rect">
            <a:avLst/>
          </a:prstGeom>
          <a:solidFill>
            <a:srgbClr val="48A9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475488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DCD3C4"/>
                </a:solidFill>
                <a:latin typeface="Cambria"/>
              </a:rPr>
              <a:t>Ochiq kamchiliklar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060704"/>
            <a:ext cx="10881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7C8B8F"/>
                </a:solidFill>
                <a:latin typeface="Calibri"/>
              </a:rPr>
              <a:t>Halol ro'yxat — hali bajarilmagan ishlar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600200"/>
            <a:ext cx="5074920" cy="987552"/>
          </a:xfrm>
          <a:prstGeom prst="rect">
            <a:avLst/>
          </a:prstGeom>
          <a:solidFill>
            <a:srgbClr val="161D21"/>
          </a:solidFill>
          <a:ln w="9525">
            <a:solidFill>
              <a:srgbClr val="2A3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69848" y="1837943"/>
            <a:ext cx="68580" cy="68580"/>
          </a:xfrm>
          <a:prstGeom prst="rect">
            <a:avLst/>
          </a:prstGeom>
          <a:solidFill>
            <a:srgbClr val="BC5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52728" y="1746504"/>
            <a:ext cx="4480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DCD3C4"/>
                </a:solidFill>
                <a:latin typeface="Cambria"/>
              </a:rPr>
              <a:t>Jang balansi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205740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 i="0">
                <a:solidFill>
                  <a:srgbClr val="E4EAEA"/>
                </a:solidFill>
                <a:latin typeface="Calibri"/>
              </a:rPr>
              <a:t>Vitals::receive poza zararini 0.7 ga qisadi; zarba jadvali shunga qarab qayta balanslanmagan.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600200"/>
            <a:ext cx="5074920" cy="987552"/>
          </a:xfrm>
          <a:prstGeom prst="rect">
            <a:avLst/>
          </a:prstGeom>
          <a:solidFill>
            <a:srgbClr val="161D21"/>
          </a:solidFill>
          <a:ln w="9525">
            <a:solidFill>
              <a:srgbClr val="2A3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64808" y="1837943"/>
            <a:ext cx="68580" cy="68580"/>
          </a:xfrm>
          <a:prstGeom prst="rect">
            <a:avLst/>
          </a:prstGeom>
          <a:solidFill>
            <a:srgbClr val="BC5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47688" y="1746504"/>
            <a:ext cx="4480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DCD3C4"/>
                </a:solidFill>
                <a:latin typeface="Cambria"/>
              </a:rPr>
              <a:t>Parry bepul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4808" y="205740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 i="0">
                <a:solidFill>
                  <a:srgbClr val="E4EAEA"/>
                </a:solidFill>
                <a:latin typeface="Calibri"/>
              </a:rPr>
              <a:t>Blok nafas sarflaydi, parry esa yo'q — muvozanatsizlik.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" y="2715768"/>
            <a:ext cx="5074920" cy="987552"/>
          </a:xfrm>
          <a:prstGeom prst="rect">
            <a:avLst/>
          </a:prstGeom>
          <a:solidFill>
            <a:srgbClr val="161D21"/>
          </a:solidFill>
          <a:ln w="9525">
            <a:solidFill>
              <a:srgbClr val="2A3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069848" y="2953511"/>
            <a:ext cx="68580" cy="68580"/>
          </a:xfrm>
          <a:prstGeom prst="rect">
            <a:avLst/>
          </a:prstGeom>
          <a:solidFill>
            <a:srgbClr val="BC5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252728" y="2862072"/>
            <a:ext cx="4480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DCD3C4"/>
                </a:solidFill>
                <a:latin typeface="Cambria"/>
              </a:rPr>
              <a:t>Dushman bloki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" y="3172968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 i="0">
                <a:solidFill>
                  <a:srgbClr val="E4EAEA"/>
                </a:solidFill>
                <a:latin typeface="Calibri"/>
              </a:rPr>
              <a:t>Burchak tekshirilmaydi: orqadan urganda ham qalqon ushlaydi.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2715768"/>
            <a:ext cx="5074920" cy="987552"/>
          </a:xfrm>
          <a:prstGeom prst="rect">
            <a:avLst/>
          </a:prstGeom>
          <a:solidFill>
            <a:srgbClr val="161D21"/>
          </a:solidFill>
          <a:ln w="9525">
            <a:solidFill>
              <a:srgbClr val="2A3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464808" y="2953511"/>
            <a:ext cx="68580" cy="68580"/>
          </a:xfrm>
          <a:prstGeom prst="rect">
            <a:avLst/>
          </a:prstGeom>
          <a:solidFill>
            <a:srgbClr val="BC5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647688" y="2862072"/>
            <a:ext cx="4480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DCD3C4"/>
                </a:solidFill>
                <a:latin typeface="Cambria"/>
              </a:rPr>
              <a:t>Zarba balandligi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4808" y="3172968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 i="0">
                <a:solidFill>
                  <a:srgbClr val="E4EAEA"/>
                </a:solidFill>
                <a:latin typeface="Calibri"/>
              </a:rPr>
              <a:t>O'yinchi zarbasi Y o'qini tekshirmaydi — pastdagi va tepadagi dushmanga ham tegadi.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68680" y="3831335"/>
            <a:ext cx="5074920" cy="987552"/>
          </a:xfrm>
          <a:prstGeom prst="rect">
            <a:avLst/>
          </a:prstGeom>
          <a:solidFill>
            <a:srgbClr val="161D21"/>
          </a:solidFill>
          <a:ln w="9525">
            <a:solidFill>
              <a:srgbClr val="2A3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069848" y="4069079"/>
            <a:ext cx="68580" cy="68580"/>
          </a:xfrm>
          <a:prstGeom prst="rect">
            <a:avLst/>
          </a:prstGeom>
          <a:solidFill>
            <a:srgbClr val="7C8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252728" y="3977639"/>
            <a:ext cx="4480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DCD3C4"/>
                </a:solidFill>
                <a:latin typeface="Cambria"/>
              </a:rPr>
              <a:t>Skelet animatsiya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9848" y="4288536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 i="0">
                <a:solidFill>
                  <a:srgbClr val="E4EAEA"/>
                </a:solidFill>
                <a:latin typeface="Calibri"/>
              </a:rPr>
              <a:t>Modellarda suyak yo'q; quti bo'yicha rigging chegarasi bor.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3640" y="3831335"/>
            <a:ext cx="5074920" cy="987552"/>
          </a:xfrm>
          <a:prstGeom prst="rect">
            <a:avLst/>
          </a:prstGeom>
          <a:solidFill>
            <a:srgbClr val="161D21"/>
          </a:solidFill>
          <a:ln w="9525">
            <a:solidFill>
              <a:srgbClr val="2A3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464808" y="4069079"/>
            <a:ext cx="68580" cy="68580"/>
          </a:xfrm>
          <a:prstGeom prst="rect">
            <a:avLst/>
          </a:prstGeom>
          <a:solidFill>
            <a:srgbClr val="7C8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647688" y="3977639"/>
            <a:ext cx="4480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DCD3C4"/>
                </a:solidFill>
                <a:latin typeface="Cambria"/>
              </a:rPr>
              <a:t>Shader yo'q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64808" y="4288536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 i="0">
                <a:solidFill>
                  <a:srgbClr val="E4EAEA"/>
                </a:solidFill>
                <a:latin typeface="Calibri"/>
              </a:rPr>
              <a:t>Fixed-function OpenGL 1.1 — soya xaritasi va PBR imkonsiz.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8680" y="4946904"/>
            <a:ext cx="5074920" cy="987552"/>
          </a:xfrm>
          <a:prstGeom prst="rect">
            <a:avLst/>
          </a:prstGeom>
          <a:solidFill>
            <a:srgbClr val="161D21"/>
          </a:solidFill>
          <a:ln w="9525">
            <a:solidFill>
              <a:srgbClr val="2A3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1069848" y="5184648"/>
            <a:ext cx="68580" cy="68580"/>
          </a:xfrm>
          <a:prstGeom prst="rect">
            <a:avLst/>
          </a:prstGeom>
          <a:solidFill>
            <a:srgbClr val="7C8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252728" y="5093208"/>
            <a:ext cx="4480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DCD3C4"/>
                </a:solidFill>
                <a:latin typeface="Cambria"/>
              </a:rPr>
              <a:t>Faqat Windows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9848" y="5404104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 i="0">
                <a:solidFill>
                  <a:srgbClr val="E4EAEA"/>
                </a:solidFill>
                <a:latin typeface="Calibri"/>
              </a:rPr>
              <a:t>Win32 ga bevosita bog'langan; port qilish katta ish.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63640" y="4946904"/>
            <a:ext cx="5074920" cy="987552"/>
          </a:xfrm>
          <a:prstGeom prst="rect">
            <a:avLst/>
          </a:prstGeom>
          <a:solidFill>
            <a:srgbClr val="161D21"/>
          </a:solidFill>
          <a:ln w="9525">
            <a:solidFill>
              <a:srgbClr val="2A3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464808" y="5184648"/>
            <a:ext cx="68580" cy="68580"/>
          </a:xfrm>
          <a:prstGeom prst="rect">
            <a:avLst/>
          </a:prstGeom>
          <a:solidFill>
            <a:srgbClr val="7C8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647688" y="5093208"/>
            <a:ext cx="4480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DCD3C4"/>
                </a:solidFill>
                <a:latin typeface="Cambria"/>
              </a:rPr>
              <a:t>Git Bash segfault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64808" y="5404104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 i="0">
                <a:solidFill>
                  <a:srgbClr val="E4EAEA"/>
                </a:solidFill>
                <a:latin typeface="Calibri"/>
              </a:rPr>
              <a:t>PowerShell va Explorer dan ishlaydi, Git Bash dan yo'q — sabab aniqlanmagan.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63550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0" i="0">
                <a:solidFill>
                  <a:srgbClr val="2A353A"/>
                </a:solidFill>
                <a:latin typeface="Calibri"/>
              </a:rPr>
              <a:t>HOLAT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424160" y="635508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50" b="0" i="0">
                <a:solidFill>
                  <a:srgbClr val="2A353A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3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03504"/>
            <a:ext cx="91440" cy="91440"/>
          </a:xfrm>
          <a:prstGeom prst="rect">
            <a:avLst/>
          </a:prstGeom>
          <a:solidFill>
            <a:srgbClr val="48A9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475488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DCD3C4"/>
                </a:solidFill>
                <a:latin typeface="Cambria"/>
              </a:rPr>
              <a:t>Demo xarita va aktivlar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060704"/>
            <a:ext cx="10881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7C8B8F"/>
                </a:solidFill>
                <a:latin typeface="Calibri"/>
              </a:rPr>
              <a:t>Xaritaning o'rtasi Blender'da tayyorlanmoqda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600200"/>
            <a:ext cx="5120640" cy="1783080"/>
          </a:xfrm>
          <a:prstGeom prst="rect">
            <a:avLst/>
          </a:prstGeom>
          <a:solidFill>
            <a:srgbClr val="161D21"/>
          </a:solidFill>
          <a:ln w="12700">
            <a:solidFill>
              <a:srgbClr val="48A9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97280" y="1856232"/>
            <a:ext cx="77724" cy="77724"/>
          </a:xfrm>
          <a:prstGeom prst="rect">
            <a:avLst/>
          </a:prstGeom>
          <a:solidFill>
            <a:srgbClr val="48A9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98448" y="1764792"/>
            <a:ext cx="4480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48A9B5"/>
                </a:solidFill>
                <a:latin typeface="Cambria"/>
              </a:rPr>
              <a:t>Demo xarita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203704"/>
            <a:ext cx="466344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300" b="0" i="0">
                <a:solidFill>
                  <a:srgbClr val="E4EAEA"/>
                </a:solidFill>
                <a:latin typeface="Calibri"/>
              </a:rPr>
              <a:t>Xaritaning markaziy qismi — Qayi obasining qo'nalg'asi — hozir Blender'da modellashtirilmoqda. Bu DEMO xarita: yakuniy o'yinda har epizod uchun alohida daraja bo'ladi. Hozirgi ko'rinishlar shu demo ustida olingan.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1600200"/>
            <a:ext cx="5120640" cy="1783080"/>
          </a:xfrm>
          <a:prstGeom prst="rect">
            <a:avLst/>
          </a:prstGeom>
          <a:solidFill>
            <a:srgbClr val="161D21"/>
          </a:solidFill>
          <a:ln w="12700">
            <a:solidFill>
              <a:srgbClr val="C096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0" y="1856232"/>
            <a:ext cx="77724" cy="77724"/>
          </a:xfrm>
          <a:prstGeom prst="rect">
            <a:avLst/>
          </a:prstGeom>
          <a:solidFill>
            <a:srgbClr val="C096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01968" y="1764792"/>
            <a:ext cx="4480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C09660"/>
                </a:solidFill>
                <a:latin typeface="Cambria"/>
              </a:rPr>
              <a:t>Chodir (o'tov) — tayyor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203704"/>
            <a:ext cx="466344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300" b="0" i="0">
                <a:solidFill>
                  <a:srgbClr val="E4EAEA"/>
                </a:solidFill>
                <a:latin typeface="Calibri"/>
              </a:rPr>
              <a:t>Qayi o'tovi modellashtirildi va teksturalandi: 48 565 uchburchak, 27 280 verteks, uch burchakli topologiya. Model tayyor va o'yinga qo'yilish arafasida turibdi — keyingi qadam shu.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" y="3593592"/>
            <a:ext cx="5120640" cy="2331720"/>
          </a:xfrm>
          <a:prstGeom prst="rect">
            <a:avLst/>
          </a:prstGeom>
          <a:solidFill>
            <a:srgbClr val="1B2428"/>
          </a:solidFill>
          <a:ln w="9525">
            <a:solidFill>
              <a:srgbClr val="2A3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97280" y="4434840"/>
            <a:ext cx="46634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7C8B8F"/>
                </a:solidFill>
                <a:latin typeface="Calibri"/>
              </a:rPr>
              <a:t>O'tov renderi shu yerga qo'yiladi</a:t>
            </a:r>
            <a:r>
              <a:rPr sz="1100" b="0" i="0">
                <a:solidFill>
                  <a:srgbClr val="2A353A"/>
                </a:solidFill>
                <a:latin typeface="Consolas"/>
              </a:rPr>
              <a:t>
docs/brand/yurt.png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6772" y="3598164"/>
            <a:ext cx="4014215" cy="2417856"/>
          </a:xfrm>
          <a:prstGeom prst="rect">
            <a:avLst/>
          </a:prstGeom>
          <a:noFill/>
          <a:ln w="12700">
            <a:solidFill>
              <a:srgbClr val="2A3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6" name="Picture 15" descr="11_gamep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3639312"/>
            <a:ext cx="3931920" cy="233457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217920" y="603504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2A353A"/>
                </a:solidFill>
                <a:latin typeface="Calibri"/>
              </a:rPr>
              <a:t>Hozirgi demo xarita — o'yin ichidan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3550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0" i="0">
                <a:solidFill>
                  <a:srgbClr val="2A353A"/>
                </a:solidFill>
                <a:latin typeface="Calibri"/>
              </a:rPr>
              <a:t>ISHLAB CHIQISH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24160" y="635508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50" b="0" i="0">
                <a:solidFill>
                  <a:srgbClr val="2A353A"/>
                </a:solidFill>
                <a:latin typeface="Calibri"/>
              </a:rPr>
              <a:t>20</a:t>
            </a:r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86CCD7E9-F464-4E35-B1C2-A0852DC997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593592"/>
            <a:ext cx="5120640" cy="233172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3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03504"/>
            <a:ext cx="91440" cy="91440"/>
          </a:xfrm>
          <a:prstGeom prst="rect">
            <a:avLst/>
          </a:prstGeom>
          <a:solidFill>
            <a:srgbClr val="48A9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475488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DCD3C4"/>
                </a:solidFill>
                <a:latin typeface="Cambria"/>
              </a:rPr>
              <a:t>Ishlab chiqish holati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060704"/>
            <a:ext cx="10881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7C8B8F"/>
                </a:solidFill>
                <a:latin typeface="Calibri"/>
              </a:rPr>
              <a:t>Loyiha boshlanganiga bir hafta bo'ldi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600200"/>
            <a:ext cx="2432304" cy="1325880"/>
          </a:xfrm>
          <a:prstGeom prst="rect">
            <a:avLst/>
          </a:prstGeom>
          <a:solidFill>
            <a:srgbClr val="161D21"/>
          </a:solidFill>
          <a:ln w="9525">
            <a:solidFill>
              <a:srgbClr val="2A3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801368"/>
            <a:ext cx="2432304" cy="749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3600" b="1" i="0">
                <a:solidFill>
                  <a:srgbClr val="C09660"/>
                </a:solidFill>
                <a:latin typeface="Cambr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478024"/>
            <a:ext cx="243230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50" b="0" i="0">
                <a:solidFill>
                  <a:srgbClr val="7C8B8F"/>
                </a:solidFill>
                <a:latin typeface="Calibri"/>
              </a:rPr>
              <a:t>hafta</a:t>
            </a:r>
          </a:p>
        </p:txBody>
      </p:sp>
      <p:sp>
        <p:nvSpPr>
          <p:cNvPr id="8" name="Rectangle 7"/>
          <p:cNvSpPr/>
          <p:nvPr/>
        </p:nvSpPr>
        <p:spPr>
          <a:xfrm>
            <a:off x="3520439" y="1600200"/>
            <a:ext cx="2432304" cy="1325880"/>
          </a:xfrm>
          <a:prstGeom prst="rect">
            <a:avLst/>
          </a:prstGeom>
          <a:solidFill>
            <a:srgbClr val="161D21"/>
          </a:solidFill>
          <a:ln w="9525">
            <a:solidFill>
              <a:srgbClr val="2A3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520439" y="1801368"/>
            <a:ext cx="2432304" cy="749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3600" b="1" i="0">
                <a:solidFill>
                  <a:srgbClr val="48A9B5"/>
                </a:solidFill>
                <a:latin typeface="Cambria"/>
              </a:rPr>
              <a:t>48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39" y="2478024"/>
            <a:ext cx="243230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50" b="0" i="0">
                <a:solidFill>
                  <a:srgbClr val="7C8B8F"/>
                </a:solidFill>
                <a:latin typeface="Calibri"/>
              </a:rPr>
              <a:t>epizod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600200"/>
            <a:ext cx="2432304" cy="1325880"/>
          </a:xfrm>
          <a:prstGeom prst="rect">
            <a:avLst/>
          </a:prstGeom>
          <a:solidFill>
            <a:srgbClr val="161D21"/>
          </a:solidFill>
          <a:ln w="9525">
            <a:solidFill>
              <a:srgbClr val="2A3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72200" y="1801368"/>
            <a:ext cx="2432304" cy="749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3600" b="1" i="0">
                <a:solidFill>
                  <a:srgbClr val="C09660"/>
                </a:solidFill>
                <a:latin typeface="Cambria"/>
              </a:rPr>
              <a:t>19.5k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2478024"/>
            <a:ext cx="243230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50" b="0" i="0">
                <a:solidFill>
                  <a:srgbClr val="7C8B8F"/>
                </a:solidFill>
                <a:latin typeface="Calibri"/>
              </a:rPr>
              <a:t>qator C++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23959" y="1600200"/>
            <a:ext cx="2432304" cy="1325880"/>
          </a:xfrm>
          <a:prstGeom prst="rect">
            <a:avLst/>
          </a:prstGeom>
          <a:solidFill>
            <a:srgbClr val="161D21"/>
          </a:solidFill>
          <a:ln w="9525">
            <a:solidFill>
              <a:srgbClr val="2A3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823959" y="1801368"/>
            <a:ext cx="2432304" cy="749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3600" b="1" i="0">
                <a:solidFill>
                  <a:srgbClr val="48A9B5"/>
                </a:solidFill>
                <a:latin typeface="Cambria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23959" y="2478024"/>
            <a:ext cx="243230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50" b="0" i="0">
                <a:solidFill>
                  <a:srgbClr val="7C8B8F"/>
                </a:solidFill>
                <a:latin typeface="Calibri"/>
              </a:rPr>
              <a:t>demo xarita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" y="3200400"/>
            <a:ext cx="10424160" cy="1298448"/>
          </a:xfrm>
          <a:prstGeom prst="rect">
            <a:avLst/>
          </a:prstGeom>
          <a:solidFill>
            <a:srgbClr val="161D21"/>
          </a:solidFill>
          <a:ln w="12700">
            <a:solidFill>
              <a:srgbClr val="C096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115568" y="3447288"/>
            <a:ext cx="77724" cy="77724"/>
          </a:xfrm>
          <a:prstGeom prst="rect">
            <a:avLst/>
          </a:prstGeom>
          <a:solidFill>
            <a:srgbClr val="C096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325880" y="3355848"/>
            <a:ext cx="969264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600"/>
              </a:spcAft>
            </a:pPr>
            <a:r>
              <a:rPr sz="1400" b="1" i="0">
                <a:solidFill>
                  <a:srgbClr val="C09660"/>
                </a:solidFill>
                <a:latin typeface="Calibri"/>
              </a:rPr>
              <a:t>Aktivlar sun'iy intellekt bilan yaratilgan.</a:t>
            </a:r>
            <a:r>
              <a:rPr sz="1300" b="0" i="0">
                <a:solidFill>
                  <a:srgbClr val="E4EAEA"/>
                </a:solidFill>
                <a:latin typeface="Calibri"/>
              </a:rPr>
              <a:t>  Modellar, teksturalar va ovozli replikalarning katta qismi AI orqali generatsiya qilindi. Aynan shuning uchun ularni o'yinga moslashtirish vaqt oladi: har bir model qayta topologiyalanishi, masshtabi va o'qlari to'g'rilanishi, teksturasi o'yin uslubiga keltirilishi kerak. Chodir ana shu jarayondan o'tdi va endi o'yinga qo'yiladi.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709160"/>
            <a:ext cx="10424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DCD3C4"/>
                </a:solidFill>
                <a:latin typeface="Cambria"/>
              </a:rPr>
              <a:t>Bir haftada nimalar qilindi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68680" y="5120640"/>
            <a:ext cx="5074920" cy="731520"/>
          </a:xfrm>
          <a:prstGeom prst="rect">
            <a:avLst/>
          </a:prstGeom>
          <a:solidFill>
            <a:srgbClr val="161D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069848" y="5303520"/>
            <a:ext cx="68580" cy="68580"/>
          </a:xfrm>
          <a:prstGeom prst="rect">
            <a:avLst/>
          </a:prstGeom>
          <a:solidFill>
            <a:srgbClr val="48A9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271016" y="5212079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48A9B5"/>
                </a:solidFill>
                <a:latin typeface="Calibri"/>
              </a:rPr>
              <a:t>Yadro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51760" y="5212079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 i="0">
                <a:solidFill>
                  <a:srgbClr val="E4EAEA"/>
                </a:solidFill>
                <a:latin typeface="Calibri"/>
              </a:rPr>
              <a:t>O'z dvigateli, menyular, 3 til, 48 epizod ma'lumoti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3640" y="5120640"/>
            <a:ext cx="5074920" cy="731520"/>
          </a:xfrm>
          <a:prstGeom prst="rect">
            <a:avLst/>
          </a:prstGeom>
          <a:solidFill>
            <a:srgbClr val="161D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464808" y="5303520"/>
            <a:ext cx="68580" cy="68580"/>
          </a:xfrm>
          <a:prstGeom prst="rect">
            <a:avLst/>
          </a:prstGeom>
          <a:solidFill>
            <a:srgbClr val="48A9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665976" y="5212079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48A9B5"/>
                </a:solidFill>
                <a:latin typeface="Calibri"/>
              </a:rPr>
              <a:t>Harakat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0" y="5212079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 i="0">
                <a:solidFill>
                  <a:srgbClr val="E4EAEA"/>
                </a:solidFill>
                <a:latin typeface="Calibri"/>
              </a:rPr>
              <a:t>AC darajasidagi lokomotsiya, parkur, oyoq sirg'alishi 0%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8680" y="5961888"/>
            <a:ext cx="5074920" cy="731520"/>
          </a:xfrm>
          <a:prstGeom prst="rect">
            <a:avLst/>
          </a:prstGeom>
          <a:solidFill>
            <a:srgbClr val="161D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1069848" y="6144768"/>
            <a:ext cx="68580" cy="68580"/>
          </a:xfrm>
          <a:prstGeom prst="rect">
            <a:avLst/>
          </a:prstGeom>
          <a:solidFill>
            <a:srgbClr val="48A9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271016" y="6053327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48A9B5"/>
                </a:solidFill>
                <a:latin typeface="Calibri"/>
              </a:rPr>
              <a:t>Jang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51760" y="6053327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 i="0">
                <a:solidFill>
                  <a:srgbClr val="E4EAEA"/>
                </a:solidFill>
                <a:latin typeface="Calibri"/>
              </a:rPr>
              <a:t>Uch resurs, 6 dushman, kamon, Iymon, zarba qaytarmasi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63640" y="5961888"/>
            <a:ext cx="5074920" cy="731520"/>
          </a:xfrm>
          <a:prstGeom prst="rect">
            <a:avLst/>
          </a:prstGeom>
          <a:solidFill>
            <a:srgbClr val="161D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464808" y="6144768"/>
            <a:ext cx="68580" cy="68580"/>
          </a:xfrm>
          <a:prstGeom prst="rect">
            <a:avLst/>
          </a:prstGeom>
          <a:solidFill>
            <a:srgbClr val="48A9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665976" y="6053327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48A9B5"/>
                </a:solidFill>
                <a:latin typeface="Calibri"/>
              </a:rPr>
              <a:t>Halqa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46720" y="6053327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 i="0">
                <a:solidFill>
                  <a:srgbClr val="E4EAEA"/>
                </a:solidFill>
                <a:latin typeface="Calibri"/>
              </a:rPr>
              <a:t>To'lqinlar, nazorat nuqtasi, o'lim va qayta tug'ilish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63550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0" i="0">
                <a:solidFill>
                  <a:srgbClr val="2A353A"/>
                </a:solidFill>
                <a:latin typeface="Calibri"/>
              </a:rPr>
              <a:t>ISHLAB CHIQISH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424160" y="635508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50" b="0" i="0">
                <a:solidFill>
                  <a:srgbClr val="2A353A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3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03504"/>
            <a:ext cx="91440" cy="91440"/>
          </a:xfrm>
          <a:prstGeom prst="rect">
            <a:avLst/>
          </a:prstGeom>
          <a:solidFill>
            <a:srgbClr val="48A9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475488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DCD3C4"/>
                </a:solidFill>
                <a:latin typeface="Cambria"/>
              </a:rPr>
              <a:t>Loyiha videosi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060704"/>
            <a:ext cx="10881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7C8B8F"/>
                </a:solidFill>
                <a:latin typeface="Calibri"/>
              </a:rPr>
              <a:t>2 daqiqa 48 soniya — o'yinning hozirgi yakuniy ko'rinishi</a:t>
            </a:r>
          </a:p>
        </p:txBody>
      </p:sp>
      <p:sp>
        <p:nvSpPr>
          <p:cNvPr id="5" name="Rectangle 4"/>
          <p:cNvSpPr/>
          <p:nvPr/>
        </p:nvSpPr>
        <p:spPr>
          <a:xfrm>
            <a:off x="827531" y="1559052"/>
            <a:ext cx="6757416" cy="4047317"/>
          </a:xfrm>
          <a:prstGeom prst="rect">
            <a:avLst/>
          </a:prstGeom>
          <a:noFill/>
          <a:ln w="12700">
            <a:solidFill>
              <a:srgbClr val="2A3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6" name="Picture 5" descr="video_sti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600200"/>
            <a:ext cx="6675120" cy="375475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818120" y="1600200"/>
            <a:ext cx="3474720" cy="3968496"/>
          </a:xfrm>
          <a:prstGeom prst="rect">
            <a:avLst/>
          </a:prstGeom>
          <a:solidFill>
            <a:srgbClr val="161D21"/>
          </a:solidFill>
          <a:ln w="12700">
            <a:solidFill>
              <a:srgbClr val="48A9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20" y="1801368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48A9B5"/>
                </a:solidFill>
                <a:latin typeface="Cambria"/>
              </a:rPr>
              <a:t>Videoda nima bor</a:t>
            </a:r>
          </a:p>
        </p:txBody>
      </p:sp>
      <p:sp>
        <p:nvSpPr>
          <p:cNvPr id="9" name="Rectangle 8"/>
          <p:cNvSpPr/>
          <p:nvPr/>
        </p:nvSpPr>
        <p:spPr>
          <a:xfrm>
            <a:off x="8046720" y="2322576"/>
            <a:ext cx="68580" cy="68580"/>
          </a:xfrm>
          <a:prstGeom prst="rect">
            <a:avLst/>
          </a:prstGeom>
          <a:solidFill>
            <a:srgbClr val="48A9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47888" y="2240280"/>
            <a:ext cx="2816351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 i="0">
                <a:solidFill>
                  <a:srgbClr val="E4EAEA"/>
                </a:solidFill>
                <a:latin typeface="Calibri"/>
              </a:rPr>
              <a:t>Demo xarita — kamera aylanishi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2706624"/>
            <a:ext cx="68580" cy="68580"/>
          </a:xfrm>
          <a:prstGeom prst="rect">
            <a:avLst/>
          </a:prstGeom>
          <a:solidFill>
            <a:srgbClr val="48A9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47888" y="2624328"/>
            <a:ext cx="2816351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 i="0">
                <a:solidFill>
                  <a:srgbClr val="E4EAEA"/>
                </a:solidFill>
                <a:latin typeface="Calibri"/>
              </a:rPr>
              <a:t>Yurish, yugurish, sprint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0" y="3090672"/>
            <a:ext cx="68580" cy="68580"/>
          </a:xfrm>
          <a:prstGeom prst="rect">
            <a:avLst/>
          </a:prstGeom>
          <a:solidFill>
            <a:srgbClr val="48A9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47888" y="3008376"/>
            <a:ext cx="2816351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 i="0">
                <a:solidFill>
                  <a:srgbClr val="E4EAEA"/>
                </a:solidFill>
                <a:latin typeface="Calibri"/>
              </a:rPr>
              <a:t>Burilish yoyi va inersiya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3474720"/>
            <a:ext cx="68580" cy="68580"/>
          </a:xfrm>
          <a:prstGeom prst="rect">
            <a:avLst/>
          </a:prstGeom>
          <a:solidFill>
            <a:srgbClr val="48A9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47888" y="3392424"/>
            <a:ext cx="2816351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 i="0">
                <a:solidFill>
                  <a:srgbClr val="E4EAEA"/>
                </a:solidFill>
                <a:latin typeface="Calibri"/>
              </a:rPr>
              <a:t>Sakrash va parkur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20" y="3858768"/>
            <a:ext cx="68580" cy="68580"/>
          </a:xfrm>
          <a:prstGeom prst="rect">
            <a:avLst/>
          </a:prstGeom>
          <a:solidFill>
            <a:srgbClr val="48A9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47888" y="3776472"/>
            <a:ext cx="2816351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 i="0">
                <a:solidFill>
                  <a:srgbClr val="E4EAEA"/>
                </a:solidFill>
                <a:latin typeface="Calibri"/>
              </a:rPr>
              <a:t>Bilge Ko'z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20" y="4242816"/>
            <a:ext cx="68580" cy="68580"/>
          </a:xfrm>
          <a:prstGeom prst="rect">
            <a:avLst/>
          </a:prstGeom>
          <a:solidFill>
            <a:srgbClr val="48A9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47888" y="4160520"/>
            <a:ext cx="2816351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 i="0">
                <a:solidFill>
                  <a:srgbClr val="E4EAEA"/>
                </a:solidFill>
                <a:latin typeface="Calibri"/>
              </a:rPr>
              <a:t>Kamon — tortish va otish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46720" y="4626864"/>
            <a:ext cx="68580" cy="68580"/>
          </a:xfrm>
          <a:prstGeom prst="rect">
            <a:avLst/>
          </a:prstGeom>
          <a:solidFill>
            <a:srgbClr val="48A9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47888" y="4544568"/>
            <a:ext cx="2816351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 i="0">
                <a:solidFill>
                  <a:srgbClr val="E4EAEA"/>
                </a:solidFill>
                <a:latin typeface="Calibri"/>
              </a:rPr>
              <a:t>Qilich jangi va parry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46720" y="5010912"/>
            <a:ext cx="68580" cy="68580"/>
          </a:xfrm>
          <a:prstGeom prst="rect">
            <a:avLst/>
          </a:prstGeom>
          <a:solidFill>
            <a:srgbClr val="48A9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47888" y="4928616"/>
            <a:ext cx="2816351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 i="0">
                <a:solidFill>
                  <a:srgbClr val="E4EAEA"/>
                </a:solidFill>
                <a:latin typeface="Calibri"/>
              </a:rPr>
              <a:t>Halokat va qayta tug'ilish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68680" y="5824728"/>
            <a:ext cx="10424160" cy="731520"/>
          </a:xfrm>
          <a:prstGeom prst="rect">
            <a:avLst/>
          </a:prstGeom>
          <a:solidFill>
            <a:srgbClr val="1B2428"/>
          </a:solidFill>
          <a:ln w="9525">
            <a:solidFill>
              <a:srgbClr val="2A3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115568" y="5989320"/>
            <a:ext cx="9966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C09660"/>
                </a:solidFill>
                <a:latin typeface="Calibri"/>
              </a:rPr>
              <a:t>Havola:</a:t>
            </a:r>
            <a:r>
              <a:rPr sz="1250" b="0" i="0">
                <a:solidFill>
                  <a:srgbClr val="E4EAEA"/>
                </a:solidFill>
                <a:latin typeface="Consolas"/>
              </a:rPr>
              <a:t>   docs/Blades_of_Anatolia_demo.mp4   —   1280x720, 30 k/s, 20 MB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3550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0" i="0">
                <a:solidFill>
                  <a:srgbClr val="2A353A"/>
                </a:solidFill>
                <a:latin typeface="Calibri"/>
              </a:rPr>
              <a:t>VIDEO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24160" y="635508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50" b="0" i="0">
                <a:solidFill>
                  <a:srgbClr val="2A353A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3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03504"/>
            <a:ext cx="91440" cy="91440"/>
          </a:xfrm>
          <a:prstGeom prst="rect">
            <a:avLst/>
          </a:prstGeom>
          <a:solidFill>
            <a:srgbClr val="48A9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475488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DCD3C4"/>
                </a:solidFill>
                <a:latin typeface="Cambria"/>
              </a:rPr>
              <a:t>Jamoa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060704"/>
            <a:ext cx="10881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7C8B8F"/>
                </a:solidFill>
                <a:latin typeface="Calibri"/>
              </a:rPr>
              <a:t>Uch kishi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600200"/>
            <a:ext cx="10424160" cy="1353312"/>
          </a:xfrm>
          <a:prstGeom prst="rect">
            <a:avLst/>
          </a:prstGeom>
          <a:solidFill>
            <a:srgbClr val="161D21"/>
          </a:solidFill>
          <a:ln w="9525">
            <a:solidFill>
              <a:srgbClr val="2A3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15568" y="1874519"/>
            <a:ext cx="786384" cy="786384"/>
          </a:xfrm>
          <a:prstGeom prst="rect">
            <a:avLst/>
          </a:prstGeom>
          <a:solidFill>
            <a:srgbClr val="1B2428"/>
          </a:solidFill>
          <a:ln w="12700">
            <a:solidFill>
              <a:srgbClr val="C096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15568" y="2075688"/>
            <a:ext cx="786384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400" b="1" i="0">
                <a:solidFill>
                  <a:srgbClr val="C09660"/>
                </a:solidFill>
                <a:latin typeface="Cambria"/>
              </a:rPr>
              <a:t>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21408" y="1801368"/>
            <a:ext cx="58521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DCD3C4"/>
                </a:solidFill>
                <a:latin typeface="Cambria"/>
              </a:rPr>
              <a:t>MANSUROV ISLOMBEK BAXROMBEKOVICH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21408" y="2148840"/>
            <a:ext cx="5852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C09660"/>
                </a:solidFill>
                <a:latin typeface="Calibri"/>
              </a:rPr>
              <a:t>Jamoa rahbari  ·  Game Developer / Designer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21408" y="2459736"/>
            <a:ext cx="5852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7C8B8F"/>
                </a:solidFill>
                <a:latin typeface="Calibri"/>
              </a:rPr>
              <a:t>167-sonli maktab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79" y="1911095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50" b="0" i="0">
                <a:solidFill>
                  <a:srgbClr val="E4EAEA"/>
                </a:solidFill>
                <a:latin typeface="Calibri"/>
              </a:rPr>
              <a:t>+998 99 790 15 53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6679" y="2221992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50" b="0" i="0">
                <a:solidFill>
                  <a:srgbClr val="7C8B8F"/>
                </a:solidFill>
                <a:latin typeface="Calibri"/>
              </a:rPr>
              <a:t>mansurovislombek130@gmail.com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" y="3063240"/>
            <a:ext cx="10424160" cy="1353312"/>
          </a:xfrm>
          <a:prstGeom prst="rect">
            <a:avLst/>
          </a:prstGeom>
          <a:solidFill>
            <a:srgbClr val="161D21"/>
          </a:solidFill>
          <a:ln w="9525">
            <a:solidFill>
              <a:srgbClr val="2A3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115568" y="3337560"/>
            <a:ext cx="786384" cy="786384"/>
          </a:xfrm>
          <a:prstGeom prst="rect">
            <a:avLst/>
          </a:prstGeom>
          <a:solidFill>
            <a:srgbClr val="1B2428"/>
          </a:solidFill>
          <a:ln w="12700">
            <a:solidFill>
              <a:srgbClr val="48A9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15568" y="3538728"/>
            <a:ext cx="786384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400" b="1" i="0">
                <a:solidFill>
                  <a:srgbClr val="48A9B5"/>
                </a:solidFill>
                <a:latin typeface="Cambria"/>
              </a:rPr>
              <a:t>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21408" y="3264408"/>
            <a:ext cx="58521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DCD3C4"/>
                </a:solidFill>
                <a:latin typeface="Cambria"/>
              </a:rPr>
              <a:t>RAXMANOVA MARFU'A YUSUFBEKOVNA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21408" y="3611880"/>
            <a:ext cx="5852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48A9B5"/>
                </a:solidFill>
                <a:latin typeface="Calibri"/>
              </a:rPr>
              <a:t>A'zo  ·  Co-Founder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21408" y="3922776"/>
            <a:ext cx="5852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7C8B8F"/>
                </a:solidFill>
                <a:latin typeface="Calibri"/>
              </a:rPr>
              <a:t>Respublika Ixtisoslashtirilgan Ftiziatriya va Pulmonologiya Markazi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3374136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50" b="0" i="0">
                <a:solidFill>
                  <a:srgbClr val="E4EAEA"/>
                </a:solidFill>
                <a:latin typeface="Calibri"/>
              </a:rPr>
              <a:t>+998 99 790 15 53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26679" y="3685032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50" b="0" i="0">
                <a:solidFill>
                  <a:srgbClr val="7C8B8F"/>
                </a:solidFill>
                <a:latin typeface="Calibri"/>
              </a:rPr>
              <a:t>rakhmonovamunira85@gmail.com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68680" y="4526280"/>
            <a:ext cx="10424160" cy="1353312"/>
          </a:xfrm>
          <a:prstGeom prst="rect">
            <a:avLst/>
          </a:prstGeom>
          <a:solidFill>
            <a:srgbClr val="161D21"/>
          </a:solidFill>
          <a:ln w="9525">
            <a:solidFill>
              <a:srgbClr val="2A3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115568" y="4800600"/>
            <a:ext cx="786384" cy="786384"/>
          </a:xfrm>
          <a:prstGeom prst="rect">
            <a:avLst/>
          </a:prstGeom>
          <a:solidFill>
            <a:srgbClr val="1B2428"/>
          </a:solidFill>
          <a:ln w="12700">
            <a:solidFill>
              <a:srgbClr val="DCD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115568" y="5001768"/>
            <a:ext cx="786384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400" b="1" i="0">
                <a:solidFill>
                  <a:srgbClr val="DCD3C4"/>
                </a:solidFill>
                <a:latin typeface="Cambria"/>
              </a:rPr>
              <a:t>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21408" y="4727448"/>
            <a:ext cx="58521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DCD3C4"/>
                </a:solidFill>
                <a:latin typeface="Cambria"/>
              </a:rPr>
              <a:t>AGZAMOV MIRAKBAR ALISHER O'G'LI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21408" y="5074920"/>
            <a:ext cx="5852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DCD3C4"/>
                </a:solidFill>
                <a:latin typeface="Calibri"/>
              </a:rPr>
              <a:t>A'zo  ·  AI muhandis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21408" y="5385816"/>
            <a:ext cx="5852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7C8B8F"/>
                </a:solidFill>
                <a:latin typeface="Calibri"/>
              </a:rPr>
              <a:t>280-sonli maktab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83879" y="4837176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50" b="0" i="0">
                <a:solidFill>
                  <a:srgbClr val="E4EAEA"/>
                </a:solidFill>
                <a:latin typeface="Calibri"/>
              </a:rPr>
              <a:t>+998 99 202 57 97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26679" y="5148072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50" b="0" i="0">
                <a:solidFill>
                  <a:srgbClr val="7C8B8F"/>
                </a:solidFill>
                <a:latin typeface="Calibri"/>
              </a:rPr>
              <a:t>agzamovanozimahon@gmail.com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63550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0" i="0">
                <a:solidFill>
                  <a:srgbClr val="2A353A"/>
                </a:solidFill>
                <a:latin typeface="Calibri"/>
              </a:rPr>
              <a:t>JAMOA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24160" y="635508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50" b="0" i="0">
                <a:solidFill>
                  <a:srgbClr val="2A353A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3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_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8567" y="960120"/>
            <a:ext cx="2194560" cy="21945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3401568"/>
            <a:ext cx="103601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48A9B5"/>
                </a:solidFill>
                <a:latin typeface="Cambria"/>
              </a:rPr>
              <a:t>Bir jumlada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840480"/>
            <a:ext cx="8531352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600"/>
              </a:spcAft>
            </a:pPr>
            <a:r>
              <a:rPr sz="1700" b="0" i="0">
                <a:solidFill>
                  <a:srgbClr val="E4EAEA"/>
                </a:solidFill>
                <a:latin typeface="Cambria"/>
              </a:rPr>
              <a:t>Tashqi kutubxonasiz, sof C++ da yozilgan uchinchi shaxs o'yini: AC darajasidagi harakat, Sekiro og'irligidagi jang va 48 epizodli tarixiy hikoya — hammasi bitta dvigatelda.</a:t>
            </a:r>
          </a:p>
        </p:txBody>
      </p:sp>
      <p:sp>
        <p:nvSpPr>
          <p:cNvPr id="5" name="Rectangle 4"/>
          <p:cNvSpPr/>
          <p:nvPr/>
        </p:nvSpPr>
        <p:spPr>
          <a:xfrm>
            <a:off x="4937760" y="5230368"/>
            <a:ext cx="2313432" cy="18288"/>
          </a:xfrm>
          <a:prstGeom prst="rect">
            <a:avLst/>
          </a:prstGeom>
          <a:solidFill>
            <a:srgbClr val="2A3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5468112"/>
            <a:ext cx="103601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C09660"/>
                </a:solidFill>
                <a:latin typeface="Calibri"/>
              </a:rPr>
              <a:t>19 528 qator  ·  25/25 nishon  ·  0 xato  ·  0 ogohlantirish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2464</Words>
  <Application>Microsoft Office PowerPoint</Application>
  <PresentationFormat>Широкоэкранный</PresentationFormat>
  <Paragraphs>491</Paragraphs>
  <Slides>24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24</vt:i4>
      </vt:variant>
    </vt:vector>
  </HeadingPairs>
  <TitlesOfParts>
    <vt:vector size="29" baseType="lpstr">
      <vt:lpstr>Arial</vt:lpstr>
      <vt:lpstr>Calibri</vt:lpstr>
      <vt:lpstr>Cambria</vt:lpstr>
      <vt:lpstr>Consolas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>generated using python-pptx</dc:description>
  <cp:lastModifiedBy>IsaFrDev@outlook.com</cp:lastModifiedBy>
  <cp:revision>2</cp:revision>
  <dcterms:created xsi:type="dcterms:W3CDTF">2013-01-27T09:14:16Z</dcterms:created>
  <dcterms:modified xsi:type="dcterms:W3CDTF">2026-08-31T13:01:09Z</dcterms:modified>
  <cp:category/>
</cp:coreProperties>
</file>